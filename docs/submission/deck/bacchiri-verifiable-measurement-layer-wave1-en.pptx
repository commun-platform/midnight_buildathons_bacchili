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real-world outcome: a reviewer verifies a threshold result without receiving sensor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cross-organization trust problem. This is a concept slide, not a transaction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the same sequence as the demo video. Do not jump ahead to transaction evidence while explaining private sensor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explains private sensor evidence. No proof transaction screen is shown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engineering innovation: 24/7 admission with an on-demand server-side Sponsor Wallet that restores an encrypted checkpoint, waits for synchronization, adds only DUST to an already-authorized transaction, and stops gracefully. The standard-4 planning example compares USD 133.23 for 720 active hours with USD 22.20 for an illustrative 120-hour monthly drain, an estimated 83.3 percent reduction; other Cloudflare services and the Proof Server are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exact claim boundary. The proof does not establish physical sensor truth, complete sampling, or correct local aggregation.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.demo-output/submission-en-20260831/deck-assets/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.demo-output/submission-en-20260831/deck-assets/evidence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5F3E5"/>
                </a:solidFill>
              </a:rPr>
              <a:t>USE CASE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One controlled path from policy to public evidence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34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BC4E8"/>
                </a:solidFill>
              </a:rPr>
              <a:t>The order matters: the public threshold is fixed before private measurements become a proof.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6519672"/>
            <a:ext cx="11155680" cy="0"/>
          </a:xfrm>
          <a:prstGeom prst="line">
            <a:avLst/>
          </a:prstGeom>
          <a:noFill/>
          <a:ln w="12700">
            <a:solidFill>
              <a:srgbClr val="2935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583680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BC4E8"/>
                </a:solidFill>
              </a:rPr>
              <a:t>BACCHIRI! · MIDNIGHT BUILDATHON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393192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21208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REGISTER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1208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Wallet, Device,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and public policy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20824" y="2971800"/>
            <a:ext cx="256032" cy="502920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1720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9736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9736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MEASURE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59736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Raw readings stay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on the Edge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959352" y="2971800"/>
            <a:ext cx="256032" cy="502920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70248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98264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REDUCE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98264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24 hourly MIN / MAX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slots + STOPPED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97880" y="2971800"/>
            <a:ext cx="256032" cy="502920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8776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36792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36792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PROVE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36792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Private witness checked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against fixed policy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836408" y="2971800"/>
            <a:ext cx="256032" cy="502920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47304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75320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AUTHORIZE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75320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Device approves;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Sponsor adds DUST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774936" y="2971800"/>
            <a:ext cx="256032" cy="502920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85832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CF0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13848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213848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F0AA"/>
                </a:solidFill>
              </a:rPr>
              <a:t>VERIFY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213848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Policy, result, and TX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are public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85800" y="50749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C6E"/>
                </a:solidFill>
              </a:rPr>
              <a:t>PUBLIC BEFORE OPERATION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566160" y="5230368"/>
            <a:ext cx="5029200" cy="0"/>
          </a:xfrm>
          <a:prstGeom prst="line">
            <a:avLst/>
          </a:prstGeom>
          <a:noFill/>
          <a:ln w="25400">
            <a:solidFill>
              <a:srgbClr val="75F3E5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8503920" y="50749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F0AA"/>
                </a:solidFill>
              </a:rPr>
              <a:t>MINIMUM PUBLIC EVIDENCE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5F3E5"/>
                </a:solidFill>
              </a:rPr>
              <a:t>LIVE PRODUCT · STEP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Bind the Device to a public threshold before measurement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34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BC4E8"/>
                </a:solidFill>
              </a:rPr>
              <a:t>The GUI shows the connected wallet, Device identity, registered policy, and next authorized action.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6519672"/>
            <a:ext cx="11155680" cy="0"/>
          </a:xfrm>
          <a:prstGeom prst="line">
            <a:avLst/>
          </a:prstGeom>
          <a:noFill/>
          <a:ln w="12700">
            <a:solidFill>
              <a:srgbClr val="2935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583680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BC4E8"/>
                </a:solidFill>
              </a:rPr>
              <a:t>BACCHIRI! · MIDNIGHT BUILDATHON</a:t>
            </a:r>
            <a:endParaRPr lang="en-US" sz="650" dirty="0"/>
          </a:p>
        </p:txBody>
      </p:sp>
      <p:pic>
        <p:nvPicPr>
          <p:cNvPr id="7" name="Image 0" descr="/home/polonity/workspace/midnight/midnight_cloudflare_demo/.demo-output/submission-en-20260831/deck-assets/de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37360"/>
            <a:ext cx="7818120" cy="43891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737360"/>
            <a:ext cx="7818120" cy="4389120"/>
          </a:xfrm>
          <a:prstGeom prst="rect">
            <a:avLst/>
          </a:prstGeom>
          <a:solidFill>
            <a:srgbClr val="090D2F">
              <a:alpha val="0"/>
            </a:srgbClr>
          </a:solidFill>
          <a:ln w="16510">
            <a:solidFill>
              <a:srgbClr val="75F3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32520" y="1737360"/>
            <a:ext cx="2834640" cy="4389120"/>
          </a:xfrm>
          <a:prstGeom prst="roundRect">
            <a:avLst>
              <a:gd name="adj" fmla="val 1613"/>
            </a:avLst>
          </a:prstGeom>
          <a:solidFill>
            <a:srgbClr val="111849"/>
          </a:solidFill>
          <a:ln w="15240">
            <a:solidFill>
              <a:srgbClr val="75F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88552" y="2075688"/>
            <a:ext cx="384048" cy="384048"/>
          </a:xfrm>
          <a:prstGeom prst="ellipse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98280" y="217627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90D2F"/>
                </a:solidFill>
              </a:rPr>
              <a:t>1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9528048" y="205740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User-controlled Wallet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528048" y="235000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BBC4E8"/>
                </a:solidFill>
              </a:rPr>
              <a:t>Explicitly connects to the DApp</a:t>
            </a:r>
            <a:endParaRPr lang="en-US" sz="860" dirty="0"/>
          </a:p>
        </p:txBody>
      </p:sp>
      <p:sp>
        <p:nvSpPr>
          <p:cNvPr id="14" name="Shape 11"/>
          <p:cNvSpPr/>
          <p:nvPr/>
        </p:nvSpPr>
        <p:spPr>
          <a:xfrm>
            <a:off x="8988552" y="3017520"/>
            <a:ext cx="384048" cy="384048"/>
          </a:xfrm>
          <a:prstGeom prst="ellipse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98280" y="3118104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90D2F"/>
                </a:solidFill>
              </a:rPr>
              <a:t>2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9528048" y="29992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Device identity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528048" y="3291840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BBC4E8"/>
                </a:solidFill>
              </a:rPr>
              <a:t>Bound to its operating authority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8988552" y="3959352"/>
            <a:ext cx="384048" cy="384048"/>
          </a:xfrm>
          <a:prstGeom prst="ellipse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98280" y="4059936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90D2F"/>
                </a:solidFill>
              </a:rPr>
              <a:t>3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9528048" y="3941064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Public threshold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9528048" y="4233672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BBC4E8"/>
                </a:solidFill>
              </a:rPr>
              <a:t>Registered before proof creation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8988552" y="4901184"/>
            <a:ext cx="384048" cy="384048"/>
          </a:xfrm>
          <a:prstGeom prst="ellipse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98280" y="5001768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90D2F"/>
                </a:solidFill>
              </a:rPr>
              <a:t>4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9528048" y="4882896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Validity period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9528048" y="5175504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BBC4E8"/>
                </a:solidFill>
              </a:rPr>
              <a:t>Constrains the intended use</a:t>
            </a:r>
            <a:endParaRPr lang="en-US" sz="8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.demo-output/submission-en-20260831/deck-assets/sensor-evidence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5F3E5"/>
                </a:solidFill>
              </a:rPr>
              <a:t>LIVE PRODUCT · STEP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Generate the ZK proof against the already registered policy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34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BC4E8"/>
                </a:solidFill>
              </a:rPr>
              <a:t>The private hourly extrema become the witness; the Device cannot substitute a convenient threshold at proof time.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6519672"/>
            <a:ext cx="11155680" cy="0"/>
          </a:xfrm>
          <a:prstGeom prst="line">
            <a:avLst/>
          </a:prstGeom>
          <a:noFill/>
          <a:ln w="12700">
            <a:solidFill>
              <a:srgbClr val="2935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583680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BC4E8"/>
                </a:solidFill>
              </a:rPr>
              <a:t>BACCHIRI! · MIDNIGHT BUILDATHON</a:t>
            </a:r>
            <a:endParaRPr lang="en-US" sz="650" dirty="0"/>
          </a:p>
        </p:txBody>
      </p:sp>
      <p:pic>
        <p:nvPicPr>
          <p:cNvPr id="7" name="Image 0" descr="/home/polonity/workspace/midnight/midnight_cloudflare_demo/.demo-output/submission-en-20260831/deck-assets/proo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19072"/>
            <a:ext cx="7909560" cy="4453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719072"/>
            <a:ext cx="7909560" cy="4453128"/>
          </a:xfrm>
          <a:prstGeom prst="rect">
            <a:avLst/>
          </a:prstGeom>
          <a:solidFill>
            <a:srgbClr val="090D2F">
              <a:alpha val="0"/>
            </a:srgbClr>
          </a:solidFill>
          <a:ln w="16510">
            <a:solidFill>
              <a:srgbClr val="75F3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96528" y="1719072"/>
            <a:ext cx="2761488" cy="4453128"/>
          </a:xfrm>
          <a:prstGeom prst="roundRect">
            <a:avLst>
              <a:gd name="adj" fmla="val 1656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52560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PRIVATE INPUT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098280" y="2615184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Hourly MIN / MAX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STOPPED slots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Proof nonce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 rot="5400000">
            <a:off x="9829800" y="3840480"/>
            <a:ext cx="640080" cy="438912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52560" y="4572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F0AA"/>
                </a:solidFill>
              </a:rPr>
              <a:t>PUBLIC OUTPUT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098280" y="5010912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WITHIN / OUTSIDE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Observed hours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Commitment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-demand Sponsor Wallet architecture" descr="Our engineering innovation: 24/7 admission with an on-demand server-side Sponsor Wallet that restores an encrypted checkpoint, waits for synchronization, adds only DUST to an already-authorized transaction, and stops gracefully. The standard-4 planning example compares USD 133.23 for 720 active hours with USD 22.20 for an illustrative 120-hour monthly drain, an estimated 83.3 percent reduction; other Cloudflare services and the Proof Server are excluded.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5F3E5"/>
                </a:solidFill>
              </a:rPr>
              <a:t>LIVE PRODUCT · STEP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third party checks public evidence — not private measurements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34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BC4E8"/>
                </a:solidFill>
              </a:rPr>
              <a:t>The public view and Midnight Explorer expose policy, result, observed hours, commitment, and transaction evidence.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6519672"/>
            <a:ext cx="11155680" cy="0"/>
          </a:xfrm>
          <a:prstGeom prst="line">
            <a:avLst/>
          </a:prstGeom>
          <a:noFill/>
          <a:ln w="12700">
            <a:solidFill>
              <a:srgbClr val="2935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583680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BC4E8"/>
                </a:solidFill>
              </a:rPr>
              <a:t>BACCHIRI! · MIDNIGHT BUILDATHON</a:t>
            </a:r>
            <a:endParaRPr lang="en-US" sz="650" dirty="0"/>
          </a:p>
        </p:txBody>
      </p:sp>
      <p:pic>
        <p:nvPicPr>
          <p:cNvPr id="7" name="Image 0" descr="/home/polonity/workspace/midnight/midnight_cloudflare_demo/.demo-output/submission-en-20260831/deck-assets/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5577840" cy="313639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1691640"/>
            <a:ext cx="5577840" cy="3136392"/>
          </a:xfrm>
          <a:prstGeom prst="rect">
            <a:avLst/>
          </a:prstGeom>
          <a:solidFill>
            <a:srgbClr val="090D2F">
              <a:alpha val="0"/>
            </a:srgbClr>
          </a:solidFill>
          <a:ln w="16510">
            <a:solidFill>
              <a:srgbClr val="75F3E5"/>
            </a:solidFill>
            <a:prstDash val="solid"/>
          </a:ln>
        </p:spPr>
      </p:sp>
      <p:pic>
        <p:nvPicPr>
          <p:cNvPr id="9" name="Image 1" descr="/home/polonity/workspace/midnight/midnight_cloudflare_demo/.demo-output/submission-en-20260831/deck-assets/explor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440680" cy="31363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245352" y="1691640"/>
            <a:ext cx="5440680" cy="3136392"/>
          </a:xfrm>
          <a:prstGeom prst="rect">
            <a:avLst/>
          </a:prstGeom>
          <a:solidFill>
            <a:srgbClr val="090D2F">
              <a:alpha val="0"/>
            </a:srgbClr>
          </a:solidFill>
          <a:ln w="16510">
            <a:solidFill>
              <a:srgbClr val="75F3E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85800" y="5138928"/>
            <a:ext cx="10972800" cy="868680"/>
          </a:xfrm>
          <a:prstGeom prst="roundRect">
            <a:avLst>
              <a:gd name="adj" fmla="val 5263"/>
            </a:avLst>
          </a:prstGeom>
          <a:solidFill>
            <a:srgbClr val="111849"/>
          </a:solidFill>
          <a:ln w="15240">
            <a:solidFill>
              <a:srgbClr val="7CF0A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14400" y="54132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F0AA"/>
                </a:solidFill>
              </a:rPr>
              <a:t>PUBLIC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057400" y="5404104"/>
            <a:ext cx="6812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Day · Device binding · Threshold · Observed / STOPPED · Result · Commitment · Transaction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988552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1A7"/>
                </a:solidFill>
              </a:rPr>
              <a:t>PRIVATE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0012680" y="5404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Readings · Hourly MIN / MAX · Nonce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.demo-output/submission-en-20260831/deck-assets/claim-boundary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Midnight Buildathon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BACCHIRI! — Verifiable Measurement Layer</dc:title>
  <dc:subject>Verifiable measurement evidence without raw sensor disclosure</dc:subject>
  <dc:creator>BACCHIRI! contributors</dc:creator>
  <cp:lastModifiedBy>BACCHIRI! contributors</cp:lastModifiedBy>
  <cp:revision>1</cp:revision>
  <dcterms:created xsi:type="dcterms:W3CDTF">2026-08-31T03:42:04Z</dcterms:created>
  <dcterms:modified xsi:type="dcterms:W3CDTF">2026-08-31T03:42:04Z</dcterms:modified>
</cp:coreProperties>
</file>