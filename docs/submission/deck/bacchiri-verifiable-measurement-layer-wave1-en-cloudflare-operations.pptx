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16"/>
    <p:sldId id="266" r:id="rId17"/>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real-world outcome: a reviewer verifies a threshold result without receiving sensor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cross-organization trust problem. This is a concept slide, not a transaction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same sequence as the demo video. Do not jump ahead to transaction evidence while explaining private sensor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private sensor evidence. No proof transaction screen is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engineering innovation: 24/7 admission with an on-demand server-side Sponsor Wallet that restores an encrypted checkpoint, waits for synchronization, adds only DUST to an already-authorized transaction, and stops gracefully. The standard-4 planning example compares USD 133.23 for 720 active hours with USD 22.20 for an illustrative 120-hour monthly drain, an estimated 83.3 percent reduction; other Cloudflare services and the Proof Server are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exact claim boundary. The proof does not establish physical sensor truth, complete sampling, or correct local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a:t>Continuous measurement. Scheduled proof.</a:t>
            </a:r>
          </a:p>
          <a:p>
            <a:r>
              <a:rPr lang="en-US"/>
              <a:t>The field device measures every minute and uploads hourly summaries. Cloudflare Workers handles authentication and the portal. D1 stores workflow state; Queues and Cron coordinate retries. Separate containers generate proofs and sponsor transactions. R2 saves encrypted wallet state. At two A.M. Japan time, processing starts for the previous day. Midnight records the public results. Private proof inputs reach the trusted backend; public viewers cannot see sensor values.</a:t>
            </a:r>
          </a:p>
          <a:p>
            <a:r>
              <a:rPr lang="en-US"/>
              <a:t>Deployed field integration on Midnight Preprod, checked September 10, 2026. Raw readings and Device authority keys stay on the Device. Hourly summaries and anomaly transitions reach the trusted backend; private proof inputs reach the Proof Server. Device authorization occurs locally before sponsorship. The Sponsor role adds DUST fees and submits the authorized transaction. A 02:00 JST cutoff is a processing start, not guaranteed completion. Missing measurements remain NO DATA. The original GUI footage is historical review evidence, not a live capture of this field workflow.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a:t>The Wallet runs only when work is due</a:t>
            </a:r>
          </a:p>
          <a:p>
            <a:r>
              <a:rPr lang="en-US"/>
              <a:t>The Worker checks the time and eligible jobs every minute, while the wallet can stay stopped. When work is due, it starts the wallet, restores its encrypted checkpoint, and waits for synchronization. Ready jobs run one at a time. The Sponsor adds DUST to the device-authorized transaction. After eligible work finishes, the wallet saves its state and stops. Sensor collection continues throughout. Jobs arriving after the daily cutoff wait for the next run.</a:t>
            </a:r>
          </a:p>
          <a:p>
            <a:r>
              <a:rPr lang="en-US"/>
              <a:t>Current operating mode: scheduled, daily start 02:00 JST. Worker Cron reads D1 before calling the Container, so a one-minute JOB check does not imply one-minute Wallet restarts. Synchronization and spendable fee state gate Wallet work. D1 leases serialize operations and protect overlapping Cron calls. Eligible work follows dependency state and oldest runnable acceptance time. Graceful shutdown persists an encrypted R2 checkpoint; restart cooldown is 60 seconds. The Device daily-submit service independently retries completed days every five minutes. Proof generation runs in the separate Proof Server Container.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cloudflare-operations-20260910-cloudflare-architecture-en.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cloudflare-operations-20260910-wallet-lifecycle-en.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D2F"/>
        </a:solidFill>
      </p:bgPr>
    </p:bg>
    <p:spTree>
      <p:nvGrpSpPr>
        <p:cNvPr id="1" name=""/>
        <p:cNvGrpSpPr/>
        <p:nvPr/>
      </p:nvGrpSpPr>
      <p:grpSpPr>
        <a:xfrm>
          <a:off x="0" y="0"/>
          <a:ext cx="0" cy="0"/>
          <a:chOff x="0" y="0"/>
          <a:chExt cx="0" cy="0"/>
        </a:xfrm>
      </p:grpSpPr>
      <p:pic>
        <p:nvPicPr>
          <p:cNvPr id="2" name="Image 0" descr="/home/polonity/workspace/midnight/midnight_cloudflare_demo/.demo-output/submission-en-20260831/deck-assets/title.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D2F"/>
        </a:solidFill>
      </p:bgPr>
    </p:bg>
    <p:spTree>
      <p:nvGrpSpPr>
        <p:cNvPr id="1" name=""/>
        <p:cNvGrpSpPr/>
        <p:nvPr/>
      </p:nvGrpSpPr>
      <p:grpSpPr>
        <a:xfrm>
          <a:off x="0" y="0"/>
          <a:ext cx="0" cy="0"/>
          <a:chOff x="0" y="0"/>
          <a:chExt cx="0" cy="0"/>
        </a:xfrm>
      </p:grpSpPr>
      <p:pic>
        <p:nvPicPr>
          <p:cNvPr id="2" name="Image 0" descr="/home/polonity/workspace/midnight/midnight_cloudflare_demo/.demo-output/submission-en-20260831/deck-assets/evidence-slide.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D2F"/>
        </a:solidFill>
      </p:bgPr>
    </p:bg>
    <p:spTree>
      <p:nvGrpSpPr>
        <p:cNvPr id="1" name=""/>
        <p:cNvGrpSpPr/>
        <p:nvPr/>
      </p:nvGrpSpPr>
      <p:grpSpPr>
        <a:xfrm>
          <a:off x="0" y="0"/>
          <a:ext cx="0" cy="0"/>
          <a:chOff x="0" y="0"/>
          <a:chExt cx="0" cy="0"/>
        </a:xfrm>
      </p:grpSpPr>
      <p:sp>
        <p:nvSpPr>
          <p:cNvPr id="2" name="Text 0"/>
          <p:cNvSpPr/>
          <p:nvPr/>
        </p:nvSpPr>
        <p:spPr>
          <a:xfrm>
            <a:off x="502920" y="320040"/>
            <a:ext cx="4114800" cy="201168"/>
          </a:xfrm>
          <a:prstGeom prst="rect">
            <a:avLst/>
          </a:prstGeom>
          <a:noFill/>
          <a:ln/>
        </p:spPr>
        <p:txBody>
          <a:bodyPr wrap="square" lIns="0" tIns="0" rIns="0" bIns="0" rtlCol="0" anchor="ctr"/>
          <a:lstStyle/>
          <a:p>
            <a:pPr indent="0" marL="0">
              <a:buNone/>
            </a:pPr>
            <a:r>
              <a:rPr lang="en-US" sz="900" b="1" spc="140" kern="0" dirty="0">
                <a:solidFill>
                  <a:srgbClr val="75F3E5"/>
                </a:solidFill>
              </a:rPr>
              <a:t>USE CASE</a:t>
            </a:r>
            <a:endParaRPr lang="en-US" sz="900" dirty="0"/>
          </a:p>
        </p:txBody>
      </p:sp>
      <p:sp>
        <p:nvSpPr>
          <p:cNvPr id="3" name="Text 1"/>
          <p:cNvSpPr/>
          <p:nvPr/>
        </p:nvSpPr>
        <p:spPr>
          <a:xfrm>
            <a:off x="502920" y="640080"/>
            <a:ext cx="11155680" cy="502920"/>
          </a:xfrm>
          <a:prstGeom prst="rect">
            <a:avLst/>
          </a:prstGeom>
          <a:noFill/>
          <a:ln/>
        </p:spPr>
        <p:txBody>
          <a:bodyPr wrap="square" lIns="0" tIns="0" rIns="0" bIns="0" rtlCol="0" anchor="ctr">
            <a:normAutofit/>
          </a:bodyPr>
          <a:lstStyle/>
          <a:p>
            <a:pPr indent="0" marL="0">
              <a:buNone/>
            </a:pPr>
            <a:r>
              <a:rPr lang="en-US" sz="2800" b="1" dirty="0">
                <a:solidFill>
                  <a:srgbClr val="FFFFFF"/>
                </a:solidFill>
              </a:rPr>
              <a:t>One controlled path from policy to public evidence</a:t>
            </a:r>
            <a:endParaRPr lang="en-US" sz="2800" dirty="0"/>
          </a:p>
        </p:txBody>
      </p:sp>
      <p:sp>
        <p:nvSpPr>
          <p:cNvPr id="4" name="Text 2"/>
          <p:cNvSpPr/>
          <p:nvPr/>
        </p:nvSpPr>
        <p:spPr>
          <a:xfrm>
            <a:off x="521208" y="1234440"/>
            <a:ext cx="10881360" cy="320040"/>
          </a:xfrm>
          <a:prstGeom prst="rect">
            <a:avLst/>
          </a:prstGeom>
          <a:noFill/>
          <a:ln/>
        </p:spPr>
        <p:txBody>
          <a:bodyPr wrap="square" lIns="0" tIns="0" rIns="0" bIns="0" rtlCol="0" anchor="ctr">
            <a:normAutofit/>
          </a:bodyPr>
          <a:lstStyle/>
          <a:p>
            <a:pPr indent="0" marL="0">
              <a:buNone/>
            </a:pPr>
            <a:r>
              <a:rPr lang="en-US" sz="1250" dirty="0">
                <a:solidFill>
                  <a:srgbClr val="BBC4E8"/>
                </a:solidFill>
              </a:rPr>
              <a:t>The order matters: the public threshold is fixed before private measurements become a proof.</a:t>
            </a:r>
            <a:endParaRPr lang="en-US" sz="1250" dirty="0"/>
          </a:p>
        </p:txBody>
      </p:sp>
      <p:sp>
        <p:nvSpPr>
          <p:cNvPr id="5" name="Shape 3"/>
          <p:cNvSpPr/>
          <p:nvPr/>
        </p:nvSpPr>
        <p:spPr>
          <a:xfrm>
            <a:off x="502920" y="6519672"/>
            <a:ext cx="11155680" cy="0"/>
          </a:xfrm>
          <a:prstGeom prst="line">
            <a:avLst/>
          </a:prstGeom>
          <a:noFill/>
          <a:ln w="12700">
            <a:solidFill>
              <a:srgbClr val="29356B"/>
            </a:solidFill>
            <a:prstDash val="solid"/>
          </a:ln>
        </p:spPr>
      </p:sp>
      <p:sp>
        <p:nvSpPr>
          <p:cNvPr id="6" name="Text 4"/>
          <p:cNvSpPr/>
          <p:nvPr/>
        </p:nvSpPr>
        <p:spPr>
          <a:xfrm>
            <a:off x="530352" y="6583680"/>
            <a:ext cx="3657600" cy="109728"/>
          </a:xfrm>
          <a:prstGeom prst="rect">
            <a:avLst/>
          </a:prstGeom>
          <a:noFill/>
          <a:ln/>
        </p:spPr>
        <p:txBody>
          <a:bodyPr wrap="square" lIns="0" tIns="0" rIns="0" bIns="0" rtlCol="0" anchor="ctr"/>
          <a:lstStyle/>
          <a:p>
            <a:pPr indent="0" marL="0">
              <a:buNone/>
            </a:pPr>
            <a:r>
              <a:rPr lang="en-US" sz="650" dirty="0">
                <a:solidFill>
                  <a:srgbClr val="BBC4E8"/>
                </a:solidFill>
              </a:rPr>
              <a:t>BACCHIRI! · MIDNIGHT BUILDATHON</a:t>
            </a:r>
            <a:endParaRPr lang="en-US" sz="650" dirty="0"/>
          </a:p>
        </p:txBody>
      </p:sp>
      <p:sp>
        <p:nvSpPr>
          <p:cNvPr id="7" name="Shape 5"/>
          <p:cNvSpPr/>
          <p:nvPr/>
        </p:nvSpPr>
        <p:spPr>
          <a:xfrm>
            <a:off x="393192" y="2011680"/>
            <a:ext cx="1572768" cy="2514600"/>
          </a:xfrm>
          <a:prstGeom prst="roundRect">
            <a:avLst>
              <a:gd name="adj" fmla="val 2907"/>
            </a:avLst>
          </a:prstGeom>
          <a:solidFill>
            <a:srgbClr val="111849"/>
          </a:solidFill>
          <a:ln w="15240">
            <a:solidFill>
              <a:srgbClr val="7483C8"/>
            </a:solidFill>
            <a:prstDash val="solid"/>
          </a:ln>
        </p:spPr>
      </p:sp>
      <p:sp>
        <p:nvSpPr>
          <p:cNvPr id="8" name="Text 6"/>
          <p:cNvSpPr/>
          <p:nvPr/>
        </p:nvSpPr>
        <p:spPr>
          <a:xfrm>
            <a:off x="521208" y="2212848"/>
            <a:ext cx="384048" cy="228600"/>
          </a:xfrm>
          <a:prstGeom prst="rect">
            <a:avLst/>
          </a:prstGeom>
          <a:noFill/>
          <a:ln/>
        </p:spPr>
        <p:txBody>
          <a:bodyPr wrap="square" lIns="0" tIns="0" rIns="0" bIns="0" rtlCol="0" anchor="ctr"/>
          <a:lstStyle/>
          <a:p>
            <a:pPr indent="0" marL="0">
              <a:buNone/>
            </a:pPr>
            <a:r>
              <a:rPr lang="en-US" sz="1100" b="1" dirty="0">
                <a:solidFill>
                  <a:srgbClr val="75F3E5"/>
                </a:solidFill>
              </a:rPr>
              <a:t>01</a:t>
            </a:r>
            <a:endParaRPr lang="en-US" sz="1100" dirty="0"/>
          </a:p>
        </p:txBody>
      </p:sp>
      <p:sp>
        <p:nvSpPr>
          <p:cNvPr id="9" name="Text 7"/>
          <p:cNvSpPr/>
          <p:nvPr/>
        </p:nvSpPr>
        <p:spPr>
          <a:xfrm>
            <a:off x="521208" y="2697480"/>
            <a:ext cx="1316736"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rPr>
              <a:t>REGISTER</a:t>
            </a:r>
            <a:endParaRPr lang="en-US" sz="1200" dirty="0"/>
          </a:p>
        </p:txBody>
      </p:sp>
      <p:sp>
        <p:nvSpPr>
          <p:cNvPr id="10" name="Text 8"/>
          <p:cNvSpPr/>
          <p:nvPr/>
        </p:nvSpPr>
        <p:spPr>
          <a:xfrm>
            <a:off x="521208" y="3273552"/>
            <a:ext cx="1316736" cy="658368"/>
          </a:xfrm>
          <a:prstGeom prst="rect">
            <a:avLst/>
          </a:prstGeom>
          <a:noFill/>
          <a:ln/>
        </p:spPr>
        <p:txBody>
          <a:bodyPr wrap="square" lIns="0" tIns="0" rIns="0" bIns="0" rtlCol="0" anchor="ctr">
            <a:normAutofit/>
          </a:bodyPr>
          <a:lstStyle/>
          <a:p>
            <a:pPr algn="ctr" indent="0" marL="0">
              <a:buNone/>
            </a:pPr>
            <a:r>
              <a:rPr lang="en-US" sz="1000" dirty="0">
                <a:solidFill>
                  <a:srgbClr val="BBC4E8"/>
                </a:solidFill>
              </a:rPr>
              <a:t>Wallet, Device,</a:t>
            </a:r>
            <a:endParaRPr lang="en-US" sz="1000" dirty="0"/>
          </a:p>
          <a:p>
            <a:pPr algn="ctr" indent="0" marL="0">
              <a:buNone/>
            </a:pPr>
            <a:r>
              <a:rPr lang="en-US" sz="1000" dirty="0">
                <a:solidFill>
                  <a:srgbClr val="BBC4E8"/>
                </a:solidFill>
              </a:rPr>
              <a:t>and public policy</a:t>
            </a:r>
            <a:endParaRPr lang="en-US" sz="1000" dirty="0"/>
          </a:p>
        </p:txBody>
      </p:sp>
      <p:sp>
        <p:nvSpPr>
          <p:cNvPr id="11" name="Shape 9"/>
          <p:cNvSpPr/>
          <p:nvPr/>
        </p:nvSpPr>
        <p:spPr>
          <a:xfrm>
            <a:off x="2020824" y="2971800"/>
            <a:ext cx="256032" cy="502920"/>
          </a:xfrm>
          <a:prstGeom prst="chevron">
            <a:avLst/>
          </a:prstGeom>
          <a:solidFill>
            <a:srgbClr val="75F3E5"/>
          </a:solidFill>
          <a:ln w="12700">
            <a:solidFill>
              <a:srgbClr val="75F3E5"/>
            </a:solidFill>
            <a:prstDash val="solid"/>
          </a:ln>
        </p:spPr>
      </p:sp>
      <p:sp>
        <p:nvSpPr>
          <p:cNvPr id="12" name="Shape 10"/>
          <p:cNvSpPr/>
          <p:nvPr/>
        </p:nvSpPr>
        <p:spPr>
          <a:xfrm>
            <a:off x="2331720" y="2011680"/>
            <a:ext cx="1572768" cy="2514600"/>
          </a:xfrm>
          <a:prstGeom prst="roundRect">
            <a:avLst>
              <a:gd name="adj" fmla="val 2907"/>
            </a:avLst>
          </a:prstGeom>
          <a:solidFill>
            <a:srgbClr val="111849"/>
          </a:solidFill>
          <a:ln w="15240">
            <a:solidFill>
              <a:srgbClr val="7483C8"/>
            </a:solidFill>
            <a:prstDash val="solid"/>
          </a:ln>
        </p:spPr>
      </p:sp>
      <p:sp>
        <p:nvSpPr>
          <p:cNvPr id="13" name="Text 11"/>
          <p:cNvSpPr/>
          <p:nvPr/>
        </p:nvSpPr>
        <p:spPr>
          <a:xfrm>
            <a:off x="2459736" y="2212848"/>
            <a:ext cx="384048" cy="228600"/>
          </a:xfrm>
          <a:prstGeom prst="rect">
            <a:avLst/>
          </a:prstGeom>
          <a:noFill/>
          <a:ln/>
        </p:spPr>
        <p:txBody>
          <a:bodyPr wrap="square" lIns="0" tIns="0" rIns="0" bIns="0" rtlCol="0" anchor="ctr"/>
          <a:lstStyle/>
          <a:p>
            <a:pPr indent="0" marL="0">
              <a:buNone/>
            </a:pPr>
            <a:r>
              <a:rPr lang="en-US" sz="1100" b="1" dirty="0">
                <a:solidFill>
                  <a:srgbClr val="75F3E5"/>
                </a:solidFill>
              </a:rPr>
              <a:t>02</a:t>
            </a:r>
            <a:endParaRPr lang="en-US" sz="1100" dirty="0"/>
          </a:p>
        </p:txBody>
      </p:sp>
      <p:sp>
        <p:nvSpPr>
          <p:cNvPr id="14" name="Text 12"/>
          <p:cNvSpPr/>
          <p:nvPr/>
        </p:nvSpPr>
        <p:spPr>
          <a:xfrm>
            <a:off x="2459736" y="2697480"/>
            <a:ext cx="1316736"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rPr>
              <a:t>MEASURE</a:t>
            </a:r>
            <a:endParaRPr lang="en-US" sz="1200" dirty="0"/>
          </a:p>
        </p:txBody>
      </p:sp>
      <p:sp>
        <p:nvSpPr>
          <p:cNvPr id="15" name="Text 13"/>
          <p:cNvSpPr/>
          <p:nvPr/>
        </p:nvSpPr>
        <p:spPr>
          <a:xfrm>
            <a:off x="2459736" y="3273552"/>
            <a:ext cx="1316736" cy="658368"/>
          </a:xfrm>
          <a:prstGeom prst="rect">
            <a:avLst/>
          </a:prstGeom>
          <a:noFill/>
          <a:ln/>
        </p:spPr>
        <p:txBody>
          <a:bodyPr wrap="square" lIns="0" tIns="0" rIns="0" bIns="0" rtlCol="0" anchor="ctr">
            <a:normAutofit/>
          </a:bodyPr>
          <a:lstStyle/>
          <a:p>
            <a:pPr algn="ctr" indent="0" marL="0">
              <a:buNone/>
            </a:pPr>
            <a:r>
              <a:rPr lang="en-US" sz="1000" dirty="0">
                <a:solidFill>
                  <a:srgbClr val="BBC4E8"/>
                </a:solidFill>
              </a:rPr>
              <a:t>Raw readings stay</a:t>
            </a:r>
            <a:endParaRPr lang="en-US" sz="1000" dirty="0"/>
          </a:p>
          <a:p>
            <a:pPr algn="ctr" indent="0" marL="0">
              <a:buNone/>
            </a:pPr>
            <a:r>
              <a:rPr lang="en-US" sz="1000" dirty="0">
                <a:solidFill>
                  <a:srgbClr val="BBC4E8"/>
                </a:solidFill>
              </a:rPr>
              <a:t>on the Edge</a:t>
            </a:r>
            <a:endParaRPr lang="en-US" sz="1000" dirty="0"/>
          </a:p>
        </p:txBody>
      </p:sp>
      <p:sp>
        <p:nvSpPr>
          <p:cNvPr id="16" name="Shape 14"/>
          <p:cNvSpPr/>
          <p:nvPr/>
        </p:nvSpPr>
        <p:spPr>
          <a:xfrm>
            <a:off x="3959352" y="2971800"/>
            <a:ext cx="256032" cy="502920"/>
          </a:xfrm>
          <a:prstGeom prst="chevron">
            <a:avLst/>
          </a:prstGeom>
          <a:solidFill>
            <a:srgbClr val="75F3E5"/>
          </a:solidFill>
          <a:ln w="12700">
            <a:solidFill>
              <a:srgbClr val="75F3E5"/>
            </a:solidFill>
            <a:prstDash val="solid"/>
          </a:ln>
        </p:spPr>
      </p:sp>
      <p:sp>
        <p:nvSpPr>
          <p:cNvPr id="17" name="Shape 15"/>
          <p:cNvSpPr/>
          <p:nvPr/>
        </p:nvSpPr>
        <p:spPr>
          <a:xfrm>
            <a:off x="4270248" y="2011680"/>
            <a:ext cx="1572768" cy="2514600"/>
          </a:xfrm>
          <a:prstGeom prst="roundRect">
            <a:avLst>
              <a:gd name="adj" fmla="val 2907"/>
            </a:avLst>
          </a:prstGeom>
          <a:solidFill>
            <a:srgbClr val="111849"/>
          </a:solidFill>
          <a:ln w="15240">
            <a:solidFill>
              <a:srgbClr val="7483C8"/>
            </a:solidFill>
            <a:prstDash val="solid"/>
          </a:ln>
        </p:spPr>
      </p:sp>
      <p:sp>
        <p:nvSpPr>
          <p:cNvPr id="18" name="Text 16"/>
          <p:cNvSpPr/>
          <p:nvPr/>
        </p:nvSpPr>
        <p:spPr>
          <a:xfrm>
            <a:off x="4398264" y="2212848"/>
            <a:ext cx="384048" cy="228600"/>
          </a:xfrm>
          <a:prstGeom prst="rect">
            <a:avLst/>
          </a:prstGeom>
          <a:noFill/>
          <a:ln/>
        </p:spPr>
        <p:txBody>
          <a:bodyPr wrap="square" lIns="0" tIns="0" rIns="0" bIns="0" rtlCol="0" anchor="ctr"/>
          <a:lstStyle/>
          <a:p>
            <a:pPr indent="0" marL="0">
              <a:buNone/>
            </a:pPr>
            <a:r>
              <a:rPr lang="en-US" sz="1100" b="1" dirty="0">
                <a:solidFill>
                  <a:srgbClr val="75F3E5"/>
                </a:solidFill>
              </a:rPr>
              <a:t>03</a:t>
            </a:r>
            <a:endParaRPr lang="en-US" sz="1100" dirty="0"/>
          </a:p>
        </p:txBody>
      </p:sp>
      <p:sp>
        <p:nvSpPr>
          <p:cNvPr id="19" name="Text 17"/>
          <p:cNvSpPr/>
          <p:nvPr/>
        </p:nvSpPr>
        <p:spPr>
          <a:xfrm>
            <a:off x="4398264" y="2697480"/>
            <a:ext cx="1316736"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rPr>
              <a:t>REDUCE</a:t>
            </a:r>
            <a:endParaRPr lang="en-US" sz="1200" dirty="0"/>
          </a:p>
        </p:txBody>
      </p:sp>
      <p:sp>
        <p:nvSpPr>
          <p:cNvPr id="20" name="Text 18"/>
          <p:cNvSpPr/>
          <p:nvPr/>
        </p:nvSpPr>
        <p:spPr>
          <a:xfrm>
            <a:off x="4398264" y="3273552"/>
            <a:ext cx="1316736" cy="658368"/>
          </a:xfrm>
          <a:prstGeom prst="rect">
            <a:avLst/>
          </a:prstGeom>
          <a:noFill/>
          <a:ln/>
        </p:spPr>
        <p:txBody>
          <a:bodyPr wrap="square" lIns="0" tIns="0" rIns="0" bIns="0" rtlCol="0" anchor="ctr">
            <a:normAutofit/>
          </a:bodyPr>
          <a:lstStyle/>
          <a:p>
            <a:pPr algn="ctr" indent="0" marL="0">
              <a:buNone/>
            </a:pPr>
            <a:r>
              <a:rPr lang="en-US" sz="1000" dirty="0">
                <a:solidFill>
                  <a:srgbClr val="BBC4E8"/>
                </a:solidFill>
              </a:rPr>
              <a:t>24 hourly MIN / MAX</a:t>
            </a:r>
            <a:endParaRPr lang="en-US" sz="1000" dirty="0"/>
          </a:p>
          <a:p>
            <a:pPr algn="ctr" indent="0" marL="0">
              <a:buNone/>
            </a:pPr>
            <a:r>
              <a:rPr lang="en-US" sz="1000" dirty="0">
                <a:solidFill>
                  <a:srgbClr val="BBC4E8"/>
                </a:solidFill>
              </a:rPr>
              <a:t>slots + STOPPED</a:t>
            </a:r>
            <a:endParaRPr lang="en-US" sz="1000" dirty="0"/>
          </a:p>
        </p:txBody>
      </p:sp>
      <p:sp>
        <p:nvSpPr>
          <p:cNvPr id="21" name="Shape 19"/>
          <p:cNvSpPr/>
          <p:nvPr/>
        </p:nvSpPr>
        <p:spPr>
          <a:xfrm>
            <a:off x="5897880" y="2971800"/>
            <a:ext cx="256032" cy="502920"/>
          </a:xfrm>
          <a:prstGeom prst="chevron">
            <a:avLst/>
          </a:prstGeom>
          <a:solidFill>
            <a:srgbClr val="75F3E5"/>
          </a:solidFill>
          <a:ln w="12700">
            <a:solidFill>
              <a:srgbClr val="75F3E5"/>
            </a:solidFill>
            <a:prstDash val="solid"/>
          </a:ln>
        </p:spPr>
      </p:sp>
      <p:sp>
        <p:nvSpPr>
          <p:cNvPr id="22" name="Shape 20"/>
          <p:cNvSpPr/>
          <p:nvPr/>
        </p:nvSpPr>
        <p:spPr>
          <a:xfrm>
            <a:off x="6208776" y="2011680"/>
            <a:ext cx="1572768" cy="2514600"/>
          </a:xfrm>
          <a:prstGeom prst="roundRect">
            <a:avLst>
              <a:gd name="adj" fmla="val 2907"/>
            </a:avLst>
          </a:prstGeom>
          <a:solidFill>
            <a:srgbClr val="111849"/>
          </a:solidFill>
          <a:ln w="15240">
            <a:solidFill>
              <a:srgbClr val="7483C8"/>
            </a:solidFill>
            <a:prstDash val="solid"/>
          </a:ln>
        </p:spPr>
      </p:sp>
      <p:sp>
        <p:nvSpPr>
          <p:cNvPr id="23" name="Text 21"/>
          <p:cNvSpPr/>
          <p:nvPr/>
        </p:nvSpPr>
        <p:spPr>
          <a:xfrm>
            <a:off x="6336792" y="2212848"/>
            <a:ext cx="384048" cy="228600"/>
          </a:xfrm>
          <a:prstGeom prst="rect">
            <a:avLst/>
          </a:prstGeom>
          <a:noFill/>
          <a:ln/>
        </p:spPr>
        <p:txBody>
          <a:bodyPr wrap="square" lIns="0" tIns="0" rIns="0" bIns="0" rtlCol="0" anchor="ctr"/>
          <a:lstStyle/>
          <a:p>
            <a:pPr indent="0" marL="0">
              <a:buNone/>
            </a:pPr>
            <a:r>
              <a:rPr lang="en-US" sz="1100" b="1" dirty="0">
                <a:solidFill>
                  <a:srgbClr val="75F3E5"/>
                </a:solidFill>
              </a:rPr>
              <a:t>04</a:t>
            </a:r>
            <a:endParaRPr lang="en-US" sz="1100" dirty="0"/>
          </a:p>
        </p:txBody>
      </p:sp>
      <p:sp>
        <p:nvSpPr>
          <p:cNvPr id="24" name="Text 22"/>
          <p:cNvSpPr/>
          <p:nvPr/>
        </p:nvSpPr>
        <p:spPr>
          <a:xfrm>
            <a:off x="6336792" y="2697480"/>
            <a:ext cx="1316736"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rPr>
              <a:t>PROVE</a:t>
            </a:r>
            <a:endParaRPr lang="en-US" sz="1200" dirty="0"/>
          </a:p>
        </p:txBody>
      </p:sp>
      <p:sp>
        <p:nvSpPr>
          <p:cNvPr id="25" name="Text 23"/>
          <p:cNvSpPr/>
          <p:nvPr/>
        </p:nvSpPr>
        <p:spPr>
          <a:xfrm>
            <a:off x="6336792" y="3273552"/>
            <a:ext cx="1316736" cy="658368"/>
          </a:xfrm>
          <a:prstGeom prst="rect">
            <a:avLst/>
          </a:prstGeom>
          <a:noFill/>
          <a:ln/>
        </p:spPr>
        <p:txBody>
          <a:bodyPr wrap="square" lIns="0" tIns="0" rIns="0" bIns="0" rtlCol="0" anchor="ctr">
            <a:normAutofit/>
          </a:bodyPr>
          <a:lstStyle/>
          <a:p>
            <a:pPr algn="ctr" indent="0" marL="0">
              <a:buNone/>
            </a:pPr>
            <a:r>
              <a:rPr lang="en-US" sz="1000" dirty="0">
                <a:solidFill>
                  <a:srgbClr val="BBC4E8"/>
                </a:solidFill>
              </a:rPr>
              <a:t>Private witness checked</a:t>
            </a:r>
            <a:endParaRPr lang="en-US" sz="1000" dirty="0"/>
          </a:p>
          <a:p>
            <a:pPr algn="ctr" indent="0" marL="0">
              <a:buNone/>
            </a:pPr>
            <a:r>
              <a:rPr lang="en-US" sz="1000" dirty="0">
                <a:solidFill>
                  <a:srgbClr val="BBC4E8"/>
                </a:solidFill>
              </a:rPr>
              <a:t>against fixed policy</a:t>
            </a:r>
            <a:endParaRPr lang="en-US" sz="1000" dirty="0"/>
          </a:p>
        </p:txBody>
      </p:sp>
      <p:sp>
        <p:nvSpPr>
          <p:cNvPr id="26" name="Shape 24"/>
          <p:cNvSpPr/>
          <p:nvPr/>
        </p:nvSpPr>
        <p:spPr>
          <a:xfrm>
            <a:off x="7836408" y="2971800"/>
            <a:ext cx="256032" cy="502920"/>
          </a:xfrm>
          <a:prstGeom prst="chevron">
            <a:avLst/>
          </a:prstGeom>
          <a:solidFill>
            <a:srgbClr val="75F3E5"/>
          </a:solidFill>
          <a:ln w="12700">
            <a:solidFill>
              <a:srgbClr val="75F3E5"/>
            </a:solidFill>
            <a:prstDash val="solid"/>
          </a:ln>
        </p:spPr>
      </p:sp>
      <p:sp>
        <p:nvSpPr>
          <p:cNvPr id="27" name="Shape 25"/>
          <p:cNvSpPr/>
          <p:nvPr/>
        </p:nvSpPr>
        <p:spPr>
          <a:xfrm>
            <a:off x="8147304" y="2011680"/>
            <a:ext cx="1572768" cy="2514600"/>
          </a:xfrm>
          <a:prstGeom prst="roundRect">
            <a:avLst>
              <a:gd name="adj" fmla="val 2907"/>
            </a:avLst>
          </a:prstGeom>
          <a:solidFill>
            <a:srgbClr val="111849"/>
          </a:solidFill>
          <a:ln w="15240">
            <a:solidFill>
              <a:srgbClr val="7483C8"/>
            </a:solidFill>
            <a:prstDash val="solid"/>
          </a:ln>
        </p:spPr>
      </p:sp>
      <p:sp>
        <p:nvSpPr>
          <p:cNvPr id="28" name="Text 26"/>
          <p:cNvSpPr/>
          <p:nvPr/>
        </p:nvSpPr>
        <p:spPr>
          <a:xfrm>
            <a:off x="8275320" y="2212848"/>
            <a:ext cx="384048" cy="228600"/>
          </a:xfrm>
          <a:prstGeom prst="rect">
            <a:avLst/>
          </a:prstGeom>
          <a:noFill/>
          <a:ln/>
        </p:spPr>
        <p:txBody>
          <a:bodyPr wrap="square" lIns="0" tIns="0" rIns="0" bIns="0" rtlCol="0" anchor="ctr"/>
          <a:lstStyle/>
          <a:p>
            <a:pPr indent="0" marL="0">
              <a:buNone/>
            </a:pPr>
            <a:r>
              <a:rPr lang="en-US" sz="1100" b="1" dirty="0">
                <a:solidFill>
                  <a:srgbClr val="75F3E5"/>
                </a:solidFill>
              </a:rPr>
              <a:t>05</a:t>
            </a:r>
            <a:endParaRPr lang="en-US" sz="1100" dirty="0"/>
          </a:p>
        </p:txBody>
      </p:sp>
      <p:sp>
        <p:nvSpPr>
          <p:cNvPr id="29" name="Text 27"/>
          <p:cNvSpPr/>
          <p:nvPr/>
        </p:nvSpPr>
        <p:spPr>
          <a:xfrm>
            <a:off x="8275320" y="2697480"/>
            <a:ext cx="1316736"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rPr>
              <a:t>AUTHORIZE</a:t>
            </a:r>
            <a:endParaRPr lang="en-US" sz="1200" dirty="0"/>
          </a:p>
        </p:txBody>
      </p:sp>
      <p:sp>
        <p:nvSpPr>
          <p:cNvPr id="30" name="Text 28"/>
          <p:cNvSpPr/>
          <p:nvPr/>
        </p:nvSpPr>
        <p:spPr>
          <a:xfrm>
            <a:off x="8275320" y="3273552"/>
            <a:ext cx="1316736" cy="658368"/>
          </a:xfrm>
          <a:prstGeom prst="rect">
            <a:avLst/>
          </a:prstGeom>
          <a:noFill/>
          <a:ln/>
        </p:spPr>
        <p:txBody>
          <a:bodyPr wrap="square" lIns="0" tIns="0" rIns="0" bIns="0" rtlCol="0" anchor="ctr">
            <a:normAutofit/>
          </a:bodyPr>
          <a:lstStyle/>
          <a:p>
            <a:pPr algn="ctr" indent="0" marL="0">
              <a:buNone/>
            </a:pPr>
            <a:r>
              <a:rPr lang="en-US" sz="1000" dirty="0">
                <a:solidFill>
                  <a:srgbClr val="BBC4E8"/>
                </a:solidFill>
              </a:rPr>
              <a:t>Device approves;</a:t>
            </a:r>
            <a:endParaRPr lang="en-US" sz="1000" dirty="0"/>
          </a:p>
          <a:p>
            <a:pPr algn="ctr" indent="0" marL="0">
              <a:buNone/>
            </a:pPr>
            <a:r>
              <a:rPr lang="en-US" sz="1000" dirty="0">
                <a:solidFill>
                  <a:srgbClr val="BBC4E8"/>
                </a:solidFill>
              </a:rPr>
              <a:t>Sponsor adds DUST</a:t>
            </a:r>
            <a:endParaRPr lang="en-US" sz="1000" dirty="0"/>
          </a:p>
        </p:txBody>
      </p:sp>
      <p:sp>
        <p:nvSpPr>
          <p:cNvPr id="31" name="Shape 29"/>
          <p:cNvSpPr/>
          <p:nvPr/>
        </p:nvSpPr>
        <p:spPr>
          <a:xfrm>
            <a:off x="9774936" y="2971800"/>
            <a:ext cx="256032" cy="502920"/>
          </a:xfrm>
          <a:prstGeom prst="chevron">
            <a:avLst/>
          </a:prstGeom>
          <a:solidFill>
            <a:srgbClr val="75F3E5"/>
          </a:solidFill>
          <a:ln w="12700">
            <a:solidFill>
              <a:srgbClr val="75F3E5"/>
            </a:solidFill>
            <a:prstDash val="solid"/>
          </a:ln>
        </p:spPr>
      </p:sp>
      <p:sp>
        <p:nvSpPr>
          <p:cNvPr id="32" name="Shape 30"/>
          <p:cNvSpPr/>
          <p:nvPr/>
        </p:nvSpPr>
        <p:spPr>
          <a:xfrm>
            <a:off x="10085832" y="2011680"/>
            <a:ext cx="1572768" cy="2514600"/>
          </a:xfrm>
          <a:prstGeom prst="roundRect">
            <a:avLst>
              <a:gd name="adj" fmla="val 2907"/>
            </a:avLst>
          </a:prstGeom>
          <a:solidFill>
            <a:srgbClr val="111849"/>
          </a:solidFill>
          <a:ln w="15240">
            <a:solidFill>
              <a:srgbClr val="7CF0AA"/>
            </a:solidFill>
            <a:prstDash val="solid"/>
          </a:ln>
        </p:spPr>
      </p:sp>
      <p:sp>
        <p:nvSpPr>
          <p:cNvPr id="33" name="Text 31"/>
          <p:cNvSpPr/>
          <p:nvPr/>
        </p:nvSpPr>
        <p:spPr>
          <a:xfrm>
            <a:off x="10213848" y="2212848"/>
            <a:ext cx="384048" cy="228600"/>
          </a:xfrm>
          <a:prstGeom prst="rect">
            <a:avLst/>
          </a:prstGeom>
          <a:noFill/>
          <a:ln/>
        </p:spPr>
        <p:txBody>
          <a:bodyPr wrap="square" lIns="0" tIns="0" rIns="0" bIns="0" rtlCol="0" anchor="ctr"/>
          <a:lstStyle/>
          <a:p>
            <a:pPr indent="0" marL="0">
              <a:buNone/>
            </a:pPr>
            <a:r>
              <a:rPr lang="en-US" sz="1100" b="1" dirty="0">
                <a:solidFill>
                  <a:srgbClr val="75F3E5"/>
                </a:solidFill>
              </a:rPr>
              <a:t>06</a:t>
            </a:r>
            <a:endParaRPr lang="en-US" sz="1100" dirty="0"/>
          </a:p>
        </p:txBody>
      </p:sp>
      <p:sp>
        <p:nvSpPr>
          <p:cNvPr id="34" name="Text 32"/>
          <p:cNvSpPr/>
          <p:nvPr/>
        </p:nvSpPr>
        <p:spPr>
          <a:xfrm>
            <a:off x="10213848" y="2697480"/>
            <a:ext cx="1316736" cy="274320"/>
          </a:xfrm>
          <a:prstGeom prst="rect">
            <a:avLst/>
          </a:prstGeom>
          <a:noFill/>
          <a:ln/>
        </p:spPr>
        <p:txBody>
          <a:bodyPr wrap="square" lIns="0" tIns="0" rIns="0" bIns="0" rtlCol="0" anchor="ctr">
            <a:normAutofit/>
          </a:bodyPr>
          <a:lstStyle/>
          <a:p>
            <a:pPr algn="ctr" indent="0" marL="0">
              <a:buNone/>
            </a:pPr>
            <a:r>
              <a:rPr lang="en-US" sz="1200" b="1" dirty="0">
                <a:solidFill>
                  <a:srgbClr val="7CF0AA"/>
                </a:solidFill>
              </a:rPr>
              <a:t>VERIFY</a:t>
            </a:r>
            <a:endParaRPr lang="en-US" sz="1200" dirty="0"/>
          </a:p>
        </p:txBody>
      </p:sp>
      <p:sp>
        <p:nvSpPr>
          <p:cNvPr id="35" name="Text 33"/>
          <p:cNvSpPr/>
          <p:nvPr/>
        </p:nvSpPr>
        <p:spPr>
          <a:xfrm>
            <a:off x="10213848" y="3273552"/>
            <a:ext cx="1316736" cy="658368"/>
          </a:xfrm>
          <a:prstGeom prst="rect">
            <a:avLst/>
          </a:prstGeom>
          <a:noFill/>
          <a:ln/>
        </p:spPr>
        <p:txBody>
          <a:bodyPr wrap="square" lIns="0" tIns="0" rIns="0" bIns="0" rtlCol="0" anchor="ctr">
            <a:normAutofit/>
          </a:bodyPr>
          <a:lstStyle/>
          <a:p>
            <a:pPr algn="ctr" indent="0" marL="0">
              <a:buNone/>
            </a:pPr>
            <a:r>
              <a:rPr lang="en-US" sz="1000" dirty="0">
                <a:solidFill>
                  <a:srgbClr val="BBC4E8"/>
                </a:solidFill>
              </a:rPr>
              <a:t>Policy, result, and TX</a:t>
            </a:r>
            <a:endParaRPr lang="en-US" sz="1000" dirty="0"/>
          </a:p>
          <a:p>
            <a:pPr algn="ctr" indent="0" marL="0">
              <a:buNone/>
            </a:pPr>
            <a:r>
              <a:rPr lang="en-US" sz="1000" dirty="0">
                <a:solidFill>
                  <a:srgbClr val="BBC4E8"/>
                </a:solidFill>
              </a:rPr>
              <a:t>are public</a:t>
            </a:r>
            <a:endParaRPr lang="en-US" sz="1000" dirty="0"/>
          </a:p>
        </p:txBody>
      </p:sp>
      <p:sp>
        <p:nvSpPr>
          <p:cNvPr id="36" name="Text 34"/>
          <p:cNvSpPr/>
          <p:nvPr/>
        </p:nvSpPr>
        <p:spPr>
          <a:xfrm>
            <a:off x="685800" y="5074920"/>
            <a:ext cx="3017520" cy="292608"/>
          </a:xfrm>
          <a:prstGeom prst="rect">
            <a:avLst/>
          </a:prstGeom>
          <a:noFill/>
          <a:ln/>
        </p:spPr>
        <p:txBody>
          <a:bodyPr wrap="square" lIns="0" tIns="0" rIns="0" bIns="0" rtlCol="0" anchor="ctr"/>
          <a:lstStyle/>
          <a:p>
            <a:pPr algn="ctr" indent="0" marL="0">
              <a:buNone/>
            </a:pPr>
            <a:r>
              <a:rPr lang="en-US" sz="1300" b="1" dirty="0">
                <a:solidFill>
                  <a:srgbClr val="FFCC6E"/>
                </a:solidFill>
              </a:rPr>
              <a:t>PUBLIC BEFORE OPERATION</a:t>
            </a:r>
            <a:endParaRPr lang="en-US" sz="1300" dirty="0"/>
          </a:p>
        </p:txBody>
      </p:sp>
      <p:sp>
        <p:nvSpPr>
          <p:cNvPr id="37" name="Shape 35"/>
          <p:cNvSpPr/>
          <p:nvPr/>
        </p:nvSpPr>
        <p:spPr>
          <a:xfrm>
            <a:off x="3566160" y="5230368"/>
            <a:ext cx="5029200" cy="0"/>
          </a:xfrm>
          <a:prstGeom prst="line">
            <a:avLst/>
          </a:prstGeom>
          <a:noFill/>
          <a:ln w="25400">
            <a:solidFill>
              <a:srgbClr val="75F3E5"/>
            </a:solidFill>
            <a:prstDash val="solid"/>
            <a:headEnd type="none"/>
            <a:tailEnd type="triangle"/>
          </a:ln>
        </p:spPr>
      </p:sp>
      <p:sp>
        <p:nvSpPr>
          <p:cNvPr id="38" name="Text 36"/>
          <p:cNvSpPr/>
          <p:nvPr/>
        </p:nvSpPr>
        <p:spPr>
          <a:xfrm>
            <a:off x="8503920" y="5074920"/>
            <a:ext cx="3017520" cy="292608"/>
          </a:xfrm>
          <a:prstGeom prst="rect">
            <a:avLst/>
          </a:prstGeom>
          <a:noFill/>
          <a:ln/>
        </p:spPr>
        <p:txBody>
          <a:bodyPr wrap="square" lIns="0" tIns="0" rIns="0" bIns="0" rtlCol="0" anchor="ctr"/>
          <a:lstStyle/>
          <a:p>
            <a:pPr algn="ctr" indent="0" marL="0">
              <a:buNone/>
            </a:pPr>
            <a:r>
              <a:rPr lang="en-US" sz="1300" b="1" dirty="0">
                <a:solidFill>
                  <a:srgbClr val="7CF0AA"/>
                </a:solidFill>
              </a:rPr>
              <a:t>MINIMUM PUBLIC EVIDENCE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D2F"/>
        </a:solidFill>
      </p:bgPr>
    </p:bg>
    <p:spTree>
      <p:nvGrpSpPr>
        <p:cNvPr id="1" name=""/>
        <p:cNvGrpSpPr/>
        <p:nvPr/>
      </p:nvGrpSpPr>
      <p:grpSpPr>
        <a:xfrm>
          <a:off x="0" y="0"/>
          <a:ext cx="0" cy="0"/>
          <a:chOff x="0" y="0"/>
          <a:chExt cx="0" cy="0"/>
        </a:xfrm>
      </p:grpSpPr>
      <p:sp>
        <p:nvSpPr>
          <p:cNvPr id="2" name="Text 0"/>
          <p:cNvSpPr/>
          <p:nvPr/>
        </p:nvSpPr>
        <p:spPr>
          <a:xfrm>
            <a:off x="502920" y="320040"/>
            <a:ext cx="4114800" cy="201168"/>
          </a:xfrm>
          <a:prstGeom prst="rect">
            <a:avLst/>
          </a:prstGeom>
          <a:noFill/>
          <a:ln/>
        </p:spPr>
        <p:txBody>
          <a:bodyPr wrap="square" lIns="0" tIns="0" rIns="0" bIns="0" rtlCol="0" anchor="ctr"/>
          <a:lstStyle/>
          <a:p>
            <a:pPr indent="0" marL="0">
              <a:buNone/>
            </a:pPr>
            <a:r>
              <a:rPr lang="en-US" sz="900" b="1" spc="140" kern="0" dirty="0">
                <a:solidFill>
                  <a:srgbClr val="75F3E5"/>
                </a:solidFill>
              </a:rPr>
              <a:t>LIVE PRODUCT · STEP 1</a:t>
            </a:r>
            <a:endParaRPr lang="en-US" sz="900" dirty="0"/>
          </a:p>
        </p:txBody>
      </p:sp>
      <p:sp>
        <p:nvSpPr>
          <p:cNvPr id="3" name="Text 1"/>
          <p:cNvSpPr/>
          <p:nvPr/>
        </p:nvSpPr>
        <p:spPr>
          <a:xfrm>
            <a:off x="502920" y="640080"/>
            <a:ext cx="11155680" cy="502920"/>
          </a:xfrm>
          <a:prstGeom prst="rect">
            <a:avLst/>
          </a:prstGeom>
          <a:noFill/>
          <a:ln/>
        </p:spPr>
        <p:txBody>
          <a:bodyPr wrap="square" lIns="0" tIns="0" rIns="0" bIns="0" rtlCol="0" anchor="ctr">
            <a:normAutofit/>
          </a:bodyPr>
          <a:lstStyle/>
          <a:p>
            <a:pPr indent="0" marL="0">
              <a:buNone/>
            </a:pPr>
            <a:r>
              <a:rPr lang="en-US" sz="2800" b="1" dirty="0">
                <a:solidFill>
                  <a:srgbClr val="FFFFFF"/>
                </a:solidFill>
              </a:rPr>
              <a:t>Bind the Device to a public threshold before measurement</a:t>
            </a:r>
            <a:endParaRPr lang="en-US" sz="2800" dirty="0"/>
          </a:p>
        </p:txBody>
      </p:sp>
      <p:sp>
        <p:nvSpPr>
          <p:cNvPr id="4" name="Text 2"/>
          <p:cNvSpPr/>
          <p:nvPr/>
        </p:nvSpPr>
        <p:spPr>
          <a:xfrm>
            <a:off x="521208" y="1234440"/>
            <a:ext cx="10881360" cy="320040"/>
          </a:xfrm>
          <a:prstGeom prst="rect">
            <a:avLst/>
          </a:prstGeom>
          <a:noFill/>
          <a:ln/>
        </p:spPr>
        <p:txBody>
          <a:bodyPr wrap="square" lIns="0" tIns="0" rIns="0" bIns="0" rtlCol="0" anchor="ctr">
            <a:normAutofit/>
          </a:bodyPr>
          <a:lstStyle/>
          <a:p>
            <a:pPr indent="0" marL="0">
              <a:buNone/>
            </a:pPr>
            <a:r>
              <a:rPr lang="en-US" sz="1250" dirty="0">
                <a:solidFill>
                  <a:srgbClr val="BBC4E8"/>
                </a:solidFill>
              </a:rPr>
              <a:t>The GUI shows the connected wallet, Device identity, registered policy, and next authorized action.</a:t>
            </a:r>
            <a:endParaRPr lang="en-US" sz="1250" dirty="0"/>
          </a:p>
        </p:txBody>
      </p:sp>
      <p:sp>
        <p:nvSpPr>
          <p:cNvPr id="5" name="Shape 3"/>
          <p:cNvSpPr/>
          <p:nvPr/>
        </p:nvSpPr>
        <p:spPr>
          <a:xfrm>
            <a:off x="502920" y="6519672"/>
            <a:ext cx="11155680" cy="0"/>
          </a:xfrm>
          <a:prstGeom prst="line">
            <a:avLst/>
          </a:prstGeom>
          <a:noFill/>
          <a:ln w="12700">
            <a:solidFill>
              <a:srgbClr val="29356B"/>
            </a:solidFill>
            <a:prstDash val="solid"/>
          </a:ln>
        </p:spPr>
      </p:sp>
      <p:sp>
        <p:nvSpPr>
          <p:cNvPr id="6" name="Text 4"/>
          <p:cNvSpPr/>
          <p:nvPr/>
        </p:nvSpPr>
        <p:spPr>
          <a:xfrm>
            <a:off x="530352" y="6583680"/>
            <a:ext cx="3657600" cy="109728"/>
          </a:xfrm>
          <a:prstGeom prst="rect">
            <a:avLst/>
          </a:prstGeom>
          <a:noFill/>
          <a:ln/>
        </p:spPr>
        <p:txBody>
          <a:bodyPr wrap="square" lIns="0" tIns="0" rIns="0" bIns="0" rtlCol="0" anchor="ctr"/>
          <a:lstStyle/>
          <a:p>
            <a:pPr indent="0" marL="0">
              <a:buNone/>
            </a:pPr>
            <a:r>
              <a:rPr lang="en-US" sz="650" dirty="0">
                <a:solidFill>
                  <a:srgbClr val="BBC4E8"/>
                </a:solidFill>
              </a:rPr>
              <a:t>BACCHIRI! · MIDNIGHT BUILDATHON</a:t>
            </a:r>
            <a:endParaRPr lang="en-US" sz="650" dirty="0"/>
          </a:p>
        </p:txBody>
      </p:sp>
      <p:pic>
        <p:nvPicPr>
          <p:cNvPr id="7" name="Image 0" descr="/home/polonity/workspace/midnight/midnight_cloudflare_demo/.demo-output/submission-en-20260831/deck-assets/device.png">    </p:cNvPr>
          <p:cNvPicPr>
            <a:picLocks noChangeAspect="1"/>
          </p:cNvPicPr>
          <p:nvPr/>
        </p:nvPicPr>
        <p:blipFill>
          <a:blip r:embed="rId1"/>
          <a:stretch>
            <a:fillRect/>
          </a:stretch>
        </p:blipFill>
        <p:spPr>
          <a:xfrm>
            <a:off x="594360" y="1737360"/>
            <a:ext cx="7818120" cy="4389120"/>
          </a:xfrm>
          <a:prstGeom prst="rect">
            <a:avLst/>
          </a:prstGeom>
        </p:spPr>
      </p:pic>
      <p:sp>
        <p:nvSpPr>
          <p:cNvPr id="8" name="Shape 5"/>
          <p:cNvSpPr/>
          <p:nvPr/>
        </p:nvSpPr>
        <p:spPr>
          <a:xfrm>
            <a:off x="594360" y="1737360"/>
            <a:ext cx="7818120" cy="4389120"/>
          </a:xfrm>
          <a:prstGeom prst="rect">
            <a:avLst/>
          </a:prstGeom>
          <a:solidFill>
            <a:srgbClr val="090D2F">
              <a:alpha val="0"/>
            </a:srgbClr>
          </a:solidFill>
          <a:ln w="16510">
            <a:solidFill>
              <a:srgbClr val="75F3E5"/>
            </a:solidFill>
            <a:prstDash val="solid"/>
          </a:ln>
        </p:spPr>
      </p:sp>
      <p:sp>
        <p:nvSpPr>
          <p:cNvPr id="9" name="Shape 6"/>
          <p:cNvSpPr/>
          <p:nvPr/>
        </p:nvSpPr>
        <p:spPr>
          <a:xfrm>
            <a:off x="8732520" y="1737360"/>
            <a:ext cx="2834640" cy="4389120"/>
          </a:xfrm>
          <a:prstGeom prst="roundRect">
            <a:avLst>
              <a:gd name="adj" fmla="val 1613"/>
            </a:avLst>
          </a:prstGeom>
          <a:solidFill>
            <a:srgbClr val="111849"/>
          </a:solidFill>
          <a:ln w="15240">
            <a:solidFill>
              <a:srgbClr val="75F3E5"/>
            </a:solidFill>
            <a:prstDash val="solid"/>
          </a:ln>
        </p:spPr>
      </p:sp>
      <p:sp>
        <p:nvSpPr>
          <p:cNvPr id="10" name="Shape 7"/>
          <p:cNvSpPr/>
          <p:nvPr/>
        </p:nvSpPr>
        <p:spPr>
          <a:xfrm>
            <a:off x="8988552" y="2075688"/>
            <a:ext cx="384048" cy="384048"/>
          </a:xfrm>
          <a:prstGeom prst="ellipse">
            <a:avLst/>
          </a:prstGeom>
          <a:solidFill>
            <a:srgbClr val="75F3E5"/>
          </a:solidFill>
          <a:ln w="12700">
            <a:solidFill>
              <a:srgbClr val="75F3E5"/>
            </a:solidFill>
            <a:prstDash val="solid"/>
          </a:ln>
        </p:spPr>
      </p:sp>
      <p:sp>
        <p:nvSpPr>
          <p:cNvPr id="11" name="Text 8"/>
          <p:cNvSpPr/>
          <p:nvPr/>
        </p:nvSpPr>
        <p:spPr>
          <a:xfrm>
            <a:off x="9098280" y="2176272"/>
            <a:ext cx="164592" cy="109728"/>
          </a:xfrm>
          <a:prstGeom prst="rect">
            <a:avLst/>
          </a:prstGeom>
          <a:noFill/>
          <a:ln/>
        </p:spPr>
        <p:txBody>
          <a:bodyPr wrap="square" lIns="0" tIns="0" rIns="0" bIns="0" rtlCol="0" anchor="ctr"/>
          <a:lstStyle/>
          <a:p>
            <a:pPr algn="ctr" indent="0" marL="0">
              <a:buNone/>
            </a:pPr>
            <a:r>
              <a:rPr lang="en-US" sz="700" b="1" dirty="0">
                <a:solidFill>
                  <a:srgbClr val="090D2F"/>
                </a:solidFill>
              </a:rPr>
              <a:t>1</a:t>
            </a:r>
            <a:endParaRPr lang="en-US" sz="700" dirty="0"/>
          </a:p>
        </p:txBody>
      </p:sp>
      <p:sp>
        <p:nvSpPr>
          <p:cNvPr id="12" name="Text 9"/>
          <p:cNvSpPr/>
          <p:nvPr/>
        </p:nvSpPr>
        <p:spPr>
          <a:xfrm>
            <a:off x="9528048" y="2057400"/>
            <a:ext cx="1719072" cy="219456"/>
          </a:xfrm>
          <a:prstGeom prst="rect">
            <a:avLst/>
          </a:prstGeom>
          <a:noFill/>
          <a:ln/>
        </p:spPr>
        <p:txBody>
          <a:bodyPr wrap="square" lIns="0" tIns="0" rIns="0" bIns="0" rtlCol="0" anchor="ctr">
            <a:normAutofit/>
          </a:bodyPr>
          <a:lstStyle/>
          <a:p>
            <a:pPr indent="0" marL="0">
              <a:buNone/>
            </a:pPr>
            <a:r>
              <a:rPr lang="en-US" sz="1150" b="1" dirty="0">
                <a:solidFill>
                  <a:srgbClr val="FFFFFF"/>
                </a:solidFill>
              </a:rPr>
              <a:t>User-controlled Wallet</a:t>
            </a:r>
            <a:endParaRPr lang="en-US" sz="1150" dirty="0"/>
          </a:p>
        </p:txBody>
      </p:sp>
      <p:sp>
        <p:nvSpPr>
          <p:cNvPr id="13" name="Text 10"/>
          <p:cNvSpPr/>
          <p:nvPr/>
        </p:nvSpPr>
        <p:spPr>
          <a:xfrm>
            <a:off x="9528048" y="2350008"/>
            <a:ext cx="1719072" cy="237744"/>
          </a:xfrm>
          <a:prstGeom prst="rect">
            <a:avLst/>
          </a:prstGeom>
          <a:noFill/>
          <a:ln/>
        </p:spPr>
        <p:txBody>
          <a:bodyPr wrap="square" lIns="0" tIns="0" rIns="0" bIns="0" rtlCol="0" anchor="ctr">
            <a:normAutofit/>
          </a:bodyPr>
          <a:lstStyle/>
          <a:p>
            <a:pPr indent="0" marL="0">
              <a:buNone/>
            </a:pPr>
            <a:r>
              <a:rPr lang="en-US" sz="860" dirty="0">
                <a:solidFill>
                  <a:srgbClr val="BBC4E8"/>
                </a:solidFill>
              </a:rPr>
              <a:t>Explicitly connects to the DApp</a:t>
            </a:r>
            <a:endParaRPr lang="en-US" sz="860" dirty="0"/>
          </a:p>
        </p:txBody>
      </p:sp>
      <p:sp>
        <p:nvSpPr>
          <p:cNvPr id="14" name="Shape 11"/>
          <p:cNvSpPr/>
          <p:nvPr/>
        </p:nvSpPr>
        <p:spPr>
          <a:xfrm>
            <a:off x="8988552" y="3017520"/>
            <a:ext cx="384048" cy="384048"/>
          </a:xfrm>
          <a:prstGeom prst="ellipse">
            <a:avLst/>
          </a:prstGeom>
          <a:solidFill>
            <a:srgbClr val="75F3E5"/>
          </a:solidFill>
          <a:ln w="12700">
            <a:solidFill>
              <a:srgbClr val="75F3E5"/>
            </a:solidFill>
            <a:prstDash val="solid"/>
          </a:ln>
        </p:spPr>
      </p:sp>
      <p:sp>
        <p:nvSpPr>
          <p:cNvPr id="15" name="Text 12"/>
          <p:cNvSpPr/>
          <p:nvPr/>
        </p:nvSpPr>
        <p:spPr>
          <a:xfrm>
            <a:off x="9098280" y="3118104"/>
            <a:ext cx="164592" cy="109728"/>
          </a:xfrm>
          <a:prstGeom prst="rect">
            <a:avLst/>
          </a:prstGeom>
          <a:noFill/>
          <a:ln/>
        </p:spPr>
        <p:txBody>
          <a:bodyPr wrap="square" lIns="0" tIns="0" rIns="0" bIns="0" rtlCol="0" anchor="ctr"/>
          <a:lstStyle/>
          <a:p>
            <a:pPr algn="ctr" indent="0" marL="0">
              <a:buNone/>
            </a:pPr>
            <a:r>
              <a:rPr lang="en-US" sz="700" b="1" dirty="0">
                <a:solidFill>
                  <a:srgbClr val="090D2F"/>
                </a:solidFill>
              </a:rPr>
              <a:t>2</a:t>
            </a:r>
            <a:endParaRPr lang="en-US" sz="700" dirty="0"/>
          </a:p>
        </p:txBody>
      </p:sp>
      <p:sp>
        <p:nvSpPr>
          <p:cNvPr id="16" name="Text 13"/>
          <p:cNvSpPr/>
          <p:nvPr/>
        </p:nvSpPr>
        <p:spPr>
          <a:xfrm>
            <a:off x="9528048" y="2999232"/>
            <a:ext cx="1719072" cy="219456"/>
          </a:xfrm>
          <a:prstGeom prst="rect">
            <a:avLst/>
          </a:prstGeom>
          <a:noFill/>
          <a:ln/>
        </p:spPr>
        <p:txBody>
          <a:bodyPr wrap="square" lIns="0" tIns="0" rIns="0" bIns="0" rtlCol="0" anchor="ctr">
            <a:normAutofit/>
          </a:bodyPr>
          <a:lstStyle/>
          <a:p>
            <a:pPr indent="0" marL="0">
              <a:buNone/>
            </a:pPr>
            <a:r>
              <a:rPr lang="en-US" sz="1150" b="1" dirty="0">
                <a:solidFill>
                  <a:srgbClr val="FFFFFF"/>
                </a:solidFill>
              </a:rPr>
              <a:t>Device identity</a:t>
            </a:r>
            <a:endParaRPr lang="en-US" sz="1150" dirty="0"/>
          </a:p>
        </p:txBody>
      </p:sp>
      <p:sp>
        <p:nvSpPr>
          <p:cNvPr id="17" name="Text 14"/>
          <p:cNvSpPr/>
          <p:nvPr/>
        </p:nvSpPr>
        <p:spPr>
          <a:xfrm>
            <a:off x="9528048" y="3291840"/>
            <a:ext cx="1719072" cy="237744"/>
          </a:xfrm>
          <a:prstGeom prst="rect">
            <a:avLst/>
          </a:prstGeom>
          <a:noFill/>
          <a:ln/>
        </p:spPr>
        <p:txBody>
          <a:bodyPr wrap="square" lIns="0" tIns="0" rIns="0" bIns="0" rtlCol="0" anchor="ctr">
            <a:normAutofit/>
          </a:bodyPr>
          <a:lstStyle/>
          <a:p>
            <a:pPr indent="0" marL="0">
              <a:buNone/>
            </a:pPr>
            <a:r>
              <a:rPr lang="en-US" sz="860" dirty="0">
                <a:solidFill>
                  <a:srgbClr val="BBC4E8"/>
                </a:solidFill>
              </a:rPr>
              <a:t>Bound to its operating authority</a:t>
            </a:r>
            <a:endParaRPr lang="en-US" sz="860" dirty="0"/>
          </a:p>
        </p:txBody>
      </p:sp>
      <p:sp>
        <p:nvSpPr>
          <p:cNvPr id="18" name="Shape 15"/>
          <p:cNvSpPr/>
          <p:nvPr/>
        </p:nvSpPr>
        <p:spPr>
          <a:xfrm>
            <a:off x="8988552" y="3959352"/>
            <a:ext cx="384048" cy="384048"/>
          </a:xfrm>
          <a:prstGeom prst="ellipse">
            <a:avLst/>
          </a:prstGeom>
          <a:solidFill>
            <a:srgbClr val="75F3E5"/>
          </a:solidFill>
          <a:ln w="12700">
            <a:solidFill>
              <a:srgbClr val="75F3E5"/>
            </a:solidFill>
            <a:prstDash val="solid"/>
          </a:ln>
        </p:spPr>
      </p:sp>
      <p:sp>
        <p:nvSpPr>
          <p:cNvPr id="19" name="Text 16"/>
          <p:cNvSpPr/>
          <p:nvPr/>
        </p:nvSpPr>
        <p:spPr>
          <a:xfrm>
            <a:off x="9098280" y="4059936"/>
            <a:ext cx="164592" cy="109728"/>
          </a:xfrm>
          <a:prstGeom prst="rect">
            <a:avLst/>
          </a:prstGeom>
          <a:noFill/>
          <a:ln/>
        </p:spPr>
        <p:txBody>
          <a:bodyPr wrap="square" lIns="0" tIns="0" rIns="0" bIns="0" rtlCol="0" anchor="ctr"/>
          <a:lstStyle/>
          <a:p>
            <a:pPr algn="ctr" indent="0" marL="0">
              <a:buNone/>
            </a:pPr>
            <a:r>
              <a:rPr lang="en-US" sz="700" b="1" dirty="0">
                <a:solidFill>
                  <a:srgbClr val="090D2F"/>
                </a:solidFill>
              </a:rPr>
              <a:t>3</a:t>
            </a:r>
            <a:endParaRPr lang="en-US" sz="700" dirty="0"/>
          </a:p>
        </p:txBody>
      </p:sp>
      <p:sp>
        <p:nvSpPr>
          <p:cNvPr id="20" name="Text 17"/>
          <p:cNvSpPr/>
          <p:nvPr/>
        </p:nvSpPr>
        <p:spPr>
          <a:xfrm>
            <a:off x="9528048" y="3941064"/>
            <a:ext cx="1719072" cy="219456"/>
          </a:xfrm>
          <a:prstGeom prst="rect">
            <a:avLst/>
          </a:prstGeom>
          <a:noFill/>
          <a:ln/>
        </p:spPr>
        <p:txBody>
          <a:bodyPr wrap="square" lIns="0" tIns="0" rIns="0" bIns="0" rtlCol="0" anchor="ctr">
            <a:normAutofit/>
          </a:bodyPr>
          <a:lstStyle/>
          <a:p>
            <a:pPr indent="0" marL="0">
              <a:buNone/>
            </a:pPr>
            <a:r>
              <a:rPr lang="en-US" sz="1150" b="1" dirty="0">
                <a:solidFill>
                  <a:srgbClr val="FFFFFF"/>
                </a:solidFill>
              </a:rPr>
              <a:t>Public threshold</a:t>
            </a:r>
            <a:endParaRPr lang="en-US" sz="1150" dirty="0"/>
          </a:p>
        </p:txBody>
      </p:sp>
      <p:sp>
        <p:nvSpPr>
          <p:cNvPr id="21" name="Text 18"/>
          <p:cNvSpPr/>
          <p:nvPr/>
        </p:nvSpPr>
        <p:spPr>
          <a:xfrm>
            <a:off x="9528048" y="4233672"/>
            <a:ext cx="1719072" cy="237744"/>
          </a:xfrm>
          <a:prstGeom prst="rect">
            <a:avLst/>
          </a:prstGeom>
          <a:noFill/>
          <a:ln/>
        </p:spPr>
        <p:txBody>
          <a:bodyPr wrap="square" lIns="0" tIns="0" rIns="0" bIns="0" rtlCol="0" anchor="ctr">
            <a:normAutofit/>
          </a:bodyPr>
          <a:lstStyle/>
          <a:p>
            <a:pPr indent="0" marL="0">
              <a:buNone/>
            </a:pPr>
            <a:r>
              <a:rPr lang="en-US" sz="860" dirty="0">
                <a:solidFill>
                  <a:srgbClr val="BBC4E8"/>
                </a:solidFill>
              </a:rPr>
              <a:t>Registered before proof creation</a:t>
            </a:r>
            <a:endParaRPr lang="en-US" sz="860" dirty="0"/>
          </a:p>
        </p:txBody>
      </p:sp>
      <p:sp>
        <p:nvSpPr>
          <p:cNvPr id="22" name="Shape 19"/>
          <p:cNvSpPr/>
          <p:nvPr/>
        </p:nvSpPr>
        <p:spPr>
          <a:xfrm>
            <a:off x="8988552" y="4901184"/>
            <a:ext cx="384048" cy="384048"/>
          </a:xfrm>
          <a:prstGeom prst="ellipse">
            <a:avLst/>
          </a:prstGeom>
          <a:solidFill>
            <a:srgbClr val="75F3E5"/>
          </a:solidFill>
          <a:ln w="12700">
            <a:solidFill>
              <a:srgbClr val="75F3E5"/>
            </a:solidFill>
            <a:prstDash val="solid"/>
          </a:ln>
        </p:spPr>
      </p:sp>
      <p:sp>
        <p:nvSpPr>
          <p:cNvPr id="23" name="Text 20"/>
          <p:cNvSpPr/>
          <p:nvPr/>
        </p:nvSpPr>
        <p:spPr>
          <a:xfrm>
            <a:off x="9098280" y="5001768"/>
            <a:ext cx="164592" cy="109728"/>
          </a:xfrm>
          <a:prstGeom prst="rect">
            <a:avLst/>
          </a:prstGeom>
          <a:noFill/>
          <a:ln/>
        </p:spPr>
        <p:txBody>
          <a:bodyPr wrap="square" lIns="0" tIns="0" rIns="0" bIns="0" rtlCol="0" anchor="ctr"/>
          <a:lstStyle/>
          <a:p>
            <a:pPr algn="ctr" indent="0" marL="0">
              <a:buNone/>
            </a:pPr>
            <a:r>
              <a:rPr lang="en-US" sz="700" b="1" dirty="0">
                <a:solidFill>
                  <a:srgbClr val="090D2F"/>
                </a:solidFill>
              </a:rPr>
              <a:t>4</a:t>
            </a:r>
            <a:endParaRPr lang="en-US" sz="700" dirty="0"/>
          </a:p>
        </p:txBody>
      </p:sp>
      <p:sp>
        <p:nvSpPr>
          <p:cNvPr id="24" name="Text 21"/>
          <p:cNvSpPr/>
          <p:nvPr/>
        </p:nvSpPr>
        <p:spPr>
          <a:xfrm>
            <a:off x="9528048" y="4882896"/>
            <a:ext cx="1719072" cy="219456"/>
          </a:xfrm>
          <a:prstGeom prst="rect">
            <a:avLst/>
          </a:prstGeom>
          <a:noFill/>
          <a:ln/>
        </p:spPr>
        <p:txBody>
          <a:bodyPr wrap="square" lIns="0" tIns="0" rIns="0" bIns="0" rtlCol="0" anchor="ctr">
            <a:normAutofit/>
          </a:bodyPr>
          <a:lstStyle/>
          <a:p>
            <a:pPr indent="0" marL="0">
              <a:buNone/>
            </a:pPr>
            <a:r>
              <a:rPr lang="en-US" sz="1150" b="1" dirty="0">
                <a:solidFill>
                  <a:srgbClr val="FFFFFF"/>
                </a:solidFill>
              </a:rPr>
              <a:t>Validity period</a:t>
            </a:r>
            <a:endParaRPr lang="en-US" sz="1150" dirty="0"/>
          </a:p>
        </p:txBody>
      </p:sp>
      <p:sp>
        <p:nvSpPr>
          <p:cNvPr id="25" name="Text 22"/>
          <p:cNvSpPr/>
          <p:nvPr/>
        </p:nvSpPr>
        <p:spPr>
          <a:xfrm>
            <a:off x="9528048" y="5175504"/>
            <a:ext cx="1719072" cy="237744"/>
          </a:xfrm>
          <a:prstGeom prst="rect">
            <a:avLst/>
          </a:prstGeom>
          <a:noFill/>
          <a:ln/>
        </p:spPr>
        <p:txBody>
          <a:bodyPr wrap="square" lIns="0" tIns="0" rIns="0" bIns="0" rtlCol="0" anchor="ctr">
            <a:normAutofit/>
          </a:bodyPr>
          <a:lstStyle/>
          <a:p>
            <a:pPr indent="0" marL="0">
              <a:buNone/>
            </a:pPr>
            <a:r>
              <a:rPr lang="en-US" sz="860" dirty="0">
                <a:solidFill>
                  <a:srgbClr val="BBC4E8"/>
                </a:solidFill>
              </a:rPr>
              <a:t>Constrains the intended use</a:t>
            </a:r>
            <a:endParaRPr lang="en-US" sz="8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D2F"/>
        </a:solidFill>
      </p:bgPr>
    </p:bg>
    <p:spTree>
      <p:nvGrpSpPr>
        <p:cNvPr id="1" name=""/>
        <p:cNvGrpSpPr/>
        <p:nvPr/>
      </p:nvGrpSpPr>
      <p:grpSpPr>
        <a:xfrm>
          <a:off x="0" y="0"/>
          <a:ext cx="0" cy="0"/>
          <a:chOff x="0" y="0"/>
          <a:chExt cx="0" cy="0"/>
        </a:xfrm>
      </p:grpSpPr>
      <p:pic>
        <p:nvPicPr>
          <p:cNvPr id="2" name="Image 0" descr="/home/polonity/workspace/midnight/midnight_cloudflare_demo/.demo-output/submission-en-20260831/deck-assets/sensor-evidence-slide.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D2F"/>
        </a:solidFill>
      </p:bgPr>
    </p:bg>
    <p:spTree>
      <p:nvGrpSpPr>
        <p:cNvPr id="1" name=""/>
        <p:cNvGrpSpPr/>
        <p:nvPr/>
      </p:nvGrpSpPr>
      <p:grpSpPr>
        <a:xfrm>
          <a:off x="0" y="0"/>
          <a:ext cx="0" cy="0"/>
          <a:chOff x="0" y="0"/>
          <a:chExt cx="0" cy="0"/>
        </a:xfrm>
      </p:grpSpPr>
      <p:sp>
        <p:nvSpPr>
          <p:cNvPr id="2" name="Text 0"/>
          <p:cNvSpPr/>
          <p:nvPr/>
        </p:nvSpPr>
        <p:spPr>
          <a:xfrm>
            <a:off x="502920" y="320040"/>
            <a:ext cx="4114800" cy="201168"/>
          </a:xfrm>
          <a:prstGeom prst="rect">
            <a:avLst/>
          </a:prstGeom>
          <a:noFill/>
          <a:ln/>
        </p:spPr>
        <p:txBody>
          <a:bodyPr wrap="square" lIns="0" tIns="0" rIns="0" bIns="0" rtlCol="0" anchor="ctr"/>
          <a:lstStyle/>
          <a:p>
            <a:pPr indent="0" marL="0">
              <a:buNone/>
            </a:pPr>
            <a:r>
              <a:rPr lang="en-US" sz="900" b="1" spc="140" kern="0" dirty="0">
                <a:solidFill>
                  <a:srgbClr val="75F3E5"/>
                </a:solidFill>
              </a:rPr>
              <a:t>LIVE PRODUCT · STEP 2</a:t>
            </a:r>
            <a:endParaRPr lang="en-US" sz="900" dirty="0"/>
          </a:p>
        </p:txBody>
      </p:sp>
      <p:sp>
        <p:nvSpPr>
          <p:cNvPr id="3" name="Text 1"/>
          <p:cNvSpPr/>
          <p:nvPr/>
        </p:nvSpPr>
        <p:spPr>
          <a:xfrm>
            <a:off x="502920" y="640080"/>
            <a:ext cx="11155680" cy="502920"/>
          </a:xfrm>
          <a:prstGeom prst="rect">
            <a:avLst/>
          </a:prstGeom>
          <a:noFill/>
          <a:ln/>
        </p:spPr>
        <p:txBody>
          <a:bodyPr wrap="square" lIns="0" tIns="0" rIns="0" bIns="0" rtlCol="0" anchor="ctr">
            <a:normAutofit/>
          </a:bodyPr>
          <a:lstStyle/>
          <a:p>
            <a:pPr indent="0" marL="0">
              <a:buNone/>
            </a:pPr>
            <a:r>
              <a:rPr lang="en-US" sz="2800" b="1" dirty="0">
                <a:solidFill>
                  <a:srgbClr val="FFFFFF"/>
                </a:solidFill>
              </a:rPr>
              <a:t>Generate the ZK proof against the already registered policy</a:t>
            </a:r>
            <a:endParaRPr lang="en-US" sz="2800" dirty="0"/>
          </a:p>
        </p:txBody>
      </p:sp>
      <p:sp>
        <p:nvSpPr>
          <p:cNvPr id="4" name="Text 2"/>
          <p:cNvSpPr/>
          <p:nvPr/>
        </p:nvSpPr>
        <p:spPr>
          <a:xfrm>
            <a:off x="521208" y="1234440"/>
            <a:ext cx="10881360" cy="320040"/>
          </a:xfrm>
          <a:prstGeom prst="rect">
            <a:avLst/>
          </a:prstGeom>
          <a:noFill/>
          <a:ln/>
        </p:spPr>
        <p:txBody>
          <a:bodyPr wrap="square" lIns="0" tIns="0" rIns="0" bIns="0" rtlCol="0" anchor="ctr">
            <a:normAutofit/>
          </a:bodyPr>
          <a:lstStyle/>
          <a:p>
            <a:pPr indent="0" marL="0">
              <a:buNone/>
            </a:pPr>
            <a:r>
              <a:rPr lang="en-US" sz="1250" dirty="0">
                <a:solidFill>
                  <a:srgbClr val="BBC4E8"/>
                </a:solidFill>
              </a:rPr>
              <a:t>The private hourly extrema become the witness; the Device cannot substitute a convenient threshold at proof time.</a:t>
            </a:r>
            <a:endParaRPr lang="en-US" sz="1250" dirty="0"/>
          </a:p>
        </p:txBody>
      </p:sp>
      <p:sp>
        <p:nvSpPr>
          <p:cNvPr id="5" name="Shape 3"/>
          <p:cNvSpPr/>
          <p:nvPr/>
        </p:nvSpPr>
        <p:spPr>
          <a:xfrm>
            <a:off x="502920" y="6519672"/>
            <a:ext cx="11155680" cy="0"/>
          </a:xfrm>
          <a:prstGeom prst="line">
            <a:avLst/>
          </a:prstGeom>
          <a:noFill/>
          <a:ln w="12700">
            <a:solidFill>
              <a:srgbClr val="29356B"/>
            </a:solidFill>
            <a:prstDash val="solid"/>
          </a:ln>
        </p:spPr>
      </p:sp>
      <p:sp>
        <p:nvSpPr>
          <p:cNvPr id="6" name="Text 4"/>
          <p:cNvSpPr/>
          <p:nvPr/>
        </p:nvSpPr>
        <p:spPr>
          <a:xfrm>
            <a:off x="530352" y="6583680"/>
            <a:ext cx="3657600" cy="109728"/>
          </a:xfrm>
          <a:prstGeom prst="rect">
            <a:avLst/>
          </a:prstGeom>
          <a:noFill/>
          <a:ln/>
        </p:spPr>
        <p:txBody>
          <a:bodyPr wrap="square" lIns="0" tIns="0" rIns="0" bIns="0" rtlCol="0" anchor="ctr"/>
          <a:lstStyle/>
          <a:p>
            <a:pPr indent="0" marL="0">
              <a:buNone/>
            </a:pPr>
            <a:r>
              <a:rPr lang="en-US" sz="650" dirty="0">
                <a:solidFill>
                  <a:srgbClr val="BBC4E8"/>
                </a:solidFill>
              </a:rPr>
              <a:t>BACCHIRI! · MIDNIGHT BUILDATHON</a:t>
            </a:r>
            <a:endParaRPr lang="en-US" sz="650" dirty="0"/>
          </a:p>
        </p:txBody>
      </p:sp>
      <p:pic>
        <p:nvPicPr>
          <p:cNvPr id="7" name="Image 0" descr="/home/polonity/workspace/midnight/midnight_cloudflare_demo/.demo-output/submission-en-20260831/deck-assets/proof.png">    </p:cNvPr>
          <p:cNvPicPr>
            <a:picLocks noChangeAspect="1"/>
          </p:cNvPicPr>
          <p:nvPr/>
        </p:nvPicPr>
        <p:blipFill>
          <a:blip r:embed="rId1"/>
          <a:stretch>
            <a:fillRect/>
          </a:stretch>
        </p:blipFill>
        <p:spPr>
          <a:xfrm>
            <a:off x="594360" y="1719072"/>
            <a:ext cx="7909560" cy="4453128"/>
          </a:xfrm>
          <a:prstGeom prst="rect">
            <a:avLst/>
          </a:prstGeom>
        </p:spPr>
      </p:pic>
      <p:sp>
        <p:nvSpPr>
          <p:cNvPr id="8" name="Shape 5"/>
          <p:cNvSpPr/>
          <p:nvPr/>
        </p:nvSpPr>
        <p:spPr>
          <a:xfrm>
            <a:off x="594360" y="1719072"/>
            <a:ext cx="7909560" cy="4453128"/>
          </a:xfrm>
          <a:prstGeom prst="rect">
            <a:avLst/>
          </a:prstGeom>
          <a:solidFill>
            <a:srgbClr val="090D2F">
              <a:alpha val="0"/>
            </a:srgbClr>
          </a:solidFill>
          <a:ln w="16510">
            <a:solidFill>
              <a:srgbClr val="75F3E5"/>
            </a:solidFill>
            <a:prstDash val="solid"/>
          </a:ln>
        </p:spPr>
      </p:sp>
      <p:sp>
        <p:nvSpPr>
          <p:cNvPr id="9" name="Shape 6"/>
          <p:cNvSpPr/>
          <p:nvPr/>
        </p:nvSpPr>
        <p:spPr>
          <a:xfrm>
            <a:off x="8796528" y="1719072"/>
            <a:ext cx="2761488" cy="4453128"/>
          </a:xfrm>
          <a:prstGeom prst="roundRect">
            <a:avLst>
              <a:gd name="adj" fmla="val 1656"/>
            </a:avLst>
          </a:prstGeom>
          <a:solidFill>
            <a:srgbClr val="111849"/>
          </a:solidFill>
          <a:ln w="15240">
            <a:solidFill>
              <a:srgbClr val="7483C8"/>
            </a:solidFill>
            <a:prstDash val="solid"/>
          </a:ln>
        </p:spPr>
      </p:sp>
      <p:sp>
        <p:nvSpPr>
          <p:cNvPr id="10" name="Text 7"/>
          <p:cNvSpPr/>
          <p:nvPr/>
        </p:nvSpPr>
        <p:spPr>
          <a:xfrm>
            <a:off x="9052560" y="2103120"/>
            <a:ext cx="2240280" cy="274320"/>
          </a:xfrm>
          <a:prstGeom prst="rect">
            <a:avLst/>
          </a:prstGeom>
          <a:noFill/>
          <a:ln/>
        </p:spPr>
        <p:txBody>
          <a:bodyPr wrap="square" lIns="0" tIns="0" rIns="0" bIns="0" rtlCol="0" anchor="ctr"/>
          <a:lstStyle/>
          <a:p>
            <a:pPr algn="ctr" indent="0" marL="0">
              <a:buNone/>
            </a:pPr>
            <a:r>
              <a:rPr lang="en-US" sz="1300" b="1" dirty="0">
                <a:solidFill>
                  <a:srgbClr val="000000"/>
                </a:solidFill>
              </a:rPr>
              <a:t>PRIVATE INPUT</a:t>
            </a:r>
            <a:endParaRPr lang="en-US" sz="1300" dirty="0"/>
          </a:p>
        </p:txBody>
      </p:sp>
      <p:sp>
        <p:nvSpPr>
          <p:cNvPr id="11" name="Text 8"/>
          <p:cNvSpPr/>
          <p:nvPr/>
        </p:nvSpPr>
        <p:spPr>
          <a:xfrm>
            <a:off x="9098280" y="2615184"/>
            <a:ext cx="2148840" cy="1143000"/>
          </a:xfrm>
          <a:prstGeom prst="rect">
            <a:avLst/>
          </a:prstGeom>
          <a:noFill/>
          <a:ln/>
        </p:spPr>
        <p:txBody>
          <a:bodyPr wrap="square" lIns="0" tIns="0" rIns="0" bIns="0" rtlCol="0" anchor="ctr"/>
          <a:lstStyle/>
          <a:p>
            <a:pPr algn="ctr" indent="0" marL="0">
              <a:buNone/>
            </a:pPr>
            <a:r>
              <a:rPr lang="en-US" sz="1200" dirty="0">
                <a:solidFill>
                  <a:srgbClr val="FFFFFF"/>
                </a:solidFill>
              </a:rPr>
              <a:t>Hourly MIN / MAX</a:t>
            </a:r>
            <a:endParaRPr lang="en-US" sz="1200" dirty="0"/>
          </a:p>
          <a:p>
            <a:pPr algn="ctr" indent="0" marL="0">
              <a:buNone/>
            </a:pPr>
            <a:r>
              <a:rPr lang="en-US" sz="1200" dirty="0">
                <a:solidFill>
                  <a:srgbClr val="FFFFFF"/>
                </a:solidFill>
              </a:rPr>
              <a:t>STOPPED slots</a:t>
            </a:r>
            <a:endParaRPr lang="en-US" sz="1200" dirty="0"/>
          </a:p>
          <a:p>
            <a:pPr algn="ctr" indent="0" marL="0">
              <a:buNone/>
            </a:pPr>
            <a:r>
              <a:rPr lang="en-US" sz="1200" dirty="0">
                <a:solidFill>
                  <a:srgbClr val="FFFFFF"/>
                </a:solidFill>
              </a:rPr>
              <a:t>Proof nonce</a:t>
            </a:r>
            <a:endParaRPr lang="en-US" sz="1200" dirty="0"/>
          </a:p>
        </p:txBody>
      </p:sp>
      <p:sp>
        <p:nvSpPr>
          <p:cNvPr id="12" name="Shape 9"/>
          <p:cNvSpPr/>
          <p:nvPr/>
        </p:nvSpPr>
        <p:spPr>
          <a:xfrm rot="5400000">
            <a:off x="9829800" y="3840480"/>
            <a:ext cx="640080" cy="438912"/>
          </a:xfrm>
          <a:prstGeom prst="chevron">
            <a:avLst/>
          </a:prstGeom>
          <a:solidFill>
            <a:srgbClr val="75F3E5"/>
          </a:solidFill>
          <a:ln w="12700">
            <a:solidFill>
              <a:srgbClr val="75F3E5"/>
            </a:solidFill>
            <a:prstDash val="solid"/>
          </a:ln>
        </p:spPr>
      </p:sp>
      <p:sp>
        <p:nvSpPr>
          <p:cNvPr id="13" name="Text 10"/>
          <p:cNvSpPr/>
          <p:nvPr/>
        </p:nvSpPr>
        <p:spPr>
          <a:xfrm>
            <a:off x="9052560" y="4572000"/>
            <a:ext cx="2240280" cy="274320"/>
          </a:xfrm>
          <a:prstGeom prst="rect">
            <a:avLst/>
          </a:prstGeom>
          <a:noFill/>
          <a:ln/>
        </p:spPr>
        <p:txBody>
          <a:bodyPr wrap="square" lIns="0" tIns="0" rIns="0" bIns="0" rtlCol="0" anchor="ctr"/>
          <a:lstStyle/>
          <a:p>
            <a:pPr algn="ctr" indent="0" marL="0">
              <a:buNone/>
            </a:pPr>
            <a:r>
              <a:rPr lang="en-US" sz="1300" b="1" dirty="0">
                <a:solidFill>
                  <a:srgbClr val="7CF0AA"/>
                </a:solidFill>
              </a:rPr>
              <a:t>PUBLIC OUTPUT</a:t>
            </a:r>
            <a:endParaRPr lang="en-US" sz="1300" dirty="0"/>
          </a:p>
        </p:txBody>
      </p:sp>
      <p:sp>
        <p:nvSpPr>
          <p:cNvPr id="14" name="Text 11"/>
          <p:cNvSpPr/>
          <p:nvPr/>
        </p:nvSpPr>
        <p:spPr>
          <a:xfrm>
            <a:off x="9098280" y="5010912"/>
            <a:ext cx="2148840" cy="777240"/>
          </a:xfrm>
          <a:prstGeom prst="rect">
            <a:avLst/>
          </a:prstGeom>
          <a:noFill/>
          <a:ln/>
        </p:spPr>
        <p:txBody>
          <a:bodyPr wrap="square" lIns="0" tIns="0" rIns="0" bIns="0" rtlCol="0" anchor="ctr"/>
          <a:lstStyle/>
          <a:p>
            <a:pPr algn="ctr" indent="0" marL="0">
              <a:buNone/>
            </a:pPr>
            <a:r>
              <a:rPr lang="en-US" sz="1150" dirty="0">
                <a:solidFill>
                  <a:srgbClr val="FFFFFF"/>
                </a:solidFill>
              </a:rPr>
              <a:t>WITHIN / OUTSIDE</a:t>
            </a:r>
            <a:endParaRPr lang="en-US" sz="1150" dirty="0"/>
          </a:p>
          <a:p>
            <a:pPr algn="ctr" indent="0" marL="0">
              <a:buNone/>
            </a:pPr>
            <a:r>
              <a:rPr lang="en-US" sz="1150" dirty="0">
                <a:solidFill>
                  <a:srgbClr val="FFFFFF"/>
                </a:solidFill>
              </a:rPr>
              <a:t>Observed hours</a:t>
            </a:r>
            <a:endParaRPr lang="en-US" sz="1150" dirty="0"/>
          </a:p>
          <a:p>
            <a:pPr algn="ctr" indent="0" marL="0">
              <a:buNone/>
            </a:pPr>
            <a:r>
              <a:rPr lang="en-US" sz="1150" dirty="0">
                <a:solidFill>
                  <a:srgbClr val="FFFFFF"/>
                </a:solidFill>
              </a:rPr>
              <a:t>Commitment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demand Sponsor Wallet architecture" descr="Our engineering innovation: 24/7 admission with an on-demand server-side Sponsor Wallet that restores an encrypted checkpoint, waits for synchronization, adds only DUST to an already-authorized transaction, and stops gracefully. The standard-4 planning example compares USD 133.23 for 720 active hours with USD 22.20 for an illustrative 120-hour monthly drain, an estimated 83.3 percent reduction; other Cloudflare services and the Proof Server are excluded."/>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D2F"/>
        </a:solidFill>
      </p:bgPr>
    </p:bg>
    <p:spTree>
      <p:nvGrpSpPr>
        <p:cNvPr id="1" name=""/>
        <p:cNvGrpSpPr/>
        <p:nvPr/>
      </p:nvGrpSpPr>
      <p:grpSpPr>
        <a:xfrm>
          <a:off x="0" y="0"/>
          <a:ext cx="0" cy="0"/>
          <a:chOff x="0" y="0"/>
          <a:chExt cx="0" cy="0"/>
        </a:xfrm>
      </p:grpSpPr>
      <p:sp>
        <p:nvSpPr>
          <p:cNvPr id="2" name="Text 0"/>
          <p:cNvSpPr/>
          <p:nvPr/>
        </p:nvSpPr>
        <p:spPr>
          <a:xfrm>
            <a:off x="502920" y="320040"/>
            <a:ext cx="4114800" cy="201168"/>
          </a:xfrm>
          <a:prstGeom prst="rect">
            <a:avLst/>
          </a:prstGeom>
          <a:noFill/>
          <a:ln/>
        </p:spPr>
        <p:txBody>
          <a:bodyPr wrap="square" lIns="0" tIns="0" rIns="0" bIns="0" rtlCol="0" anchor="ctr"/>
          <a:lstStyle/>
          <a:p>
            <a:pPr indent="0" marL="0">
              <a:buNone/>
            </a:pPr>
            <a:r>
              <a:rPr lang="en-US" sz="900" b="1" spc="140" kern="0" dirty="0">
                <a:solidFill>
                  <a:srgbClr val="75F3E5"/>
                </a:solidFill>
              </a:rPr>
              <a:t>LIVE PRODUCT · STEP 4</a:t>
            </a:r>
            <a:endParaRPr lang="en-US" sz="900" dirty="0"/>
          </a:p>
        </p:txBody>
      </p:sp>
      <p:sp>
        <p:nvSpPr>
          <p:cNvPr id="3" name="Text 1"/>
          <p:cNvSpPr/>
          <p:nvPr/>
        </p:nvSpPr>
        <p:spPr>
          <a:xfrm>
            <a:off x="502920" y="640080"/>
            <a:ext cx="11155680" cy="502920"/>
          </a:xfrm>
          <a:prstGeom prst="rect">
            <a:avLst/>
          </a:prstGeom>
          <a:noFill/>
          <a:ln/>
        </p:spPr>
        <p:txBody>
          <a:bodyPr wrap="square" lIns="0" tIns="0" rIns="0" bIns="0" rtlCol="0" anchor="ctr">
            <a:normAutofit/>
          </a:bodyPr>
          <a:lstStyle/>
          <a:p>
            <a:pPr indent="0" marL="0">
              <a:buNone/>
            </a:pPr>
            <a:r>
              <a:rPr lang="en-US" sz="2800" b="1" dirty="0">
                <a:solidFill>
                  <a:srgbClr val="FFFFFF"/>
                </a:solidFill>
              </a:rPr>
              <a:t>A third party checks public evidence — not private measurements</a:t>
            </a:r>
            <a:endParaRPr lang="en-US" sz="2800" dirty="0"/>
          </a:p>
        </p:txBody>
      </p:sp>
      <p:sp>
        <p:nvSpPr>
          <p:cNvPr id="4" name="Text 2"/>
          <p:cNvSpPr/>
          <p:nvPr/>
        </p:nvSpPr>
        <p:spPr>
          <a:xfrm>
            <a:off x="521208" y="1234440"/>
            <a:ext cx="10881360" cy="320040"/>
          </a:xfrm>
          <a:prstGeom prst="rect">
            <a:avLst/>
          </a:prstGeom>
          <a:noFill/>
          <a:ln/>
        </p:spPr>
        <p:txBody>
          <a:bodyPr wrap="square" lIns="0" tIns="0" rIns="0" bIns="0" rtlCol="0" anchor="ctr">
            <a:normAutofit/>
          </a:bodyPr>
          <a:lstStyle/>
          <a:p>
            <a:pPr indent="0" marL="0">
              <a:buNone/>
            </a:pPr>
            <a:r>
              <a:rPr lang="en-US" sz="1250" dirty="0">
                <a:solidFill>
                  <a:srgbClr val="BBC4E8"/>
                </a:solidFill>
              </a:rPr>
              <a:t>The public view and Midnight Explorer expose policy, result, observed hours, commitment, and transaction evidence.</a:t>
            </a:r>
            <a:endParaRPr lang="en-US" sz="1250" dirty="0"/>
          </a:p>
        </p:txBody>
      </p:sp>
      <p:sp>
        <p:nvSpPr>
          <p:cNvPr id="5" name="Shape 3"/>
          <p:cNvSpPr/>
          <p:nvPr/>
        </p:nvSpPr>
        <p:spPr>
          <a:xfrm>
            <a:off x="502920" y="6519672"/>
            <a:ext cx="11155680" cy="0"/>
          </a:xfrm>
          <a:prstGeom prst="line">
            <a:avLst/>
          </a:prstGeom>
          <a:noFill/>
          <a:ln w="12700">
            <a:solidFill>
              <a:srgbClr val="29356B"/>
            </a:solidFill>
            <a:prstDash val="solid"/>
          </a:ln>
        </p:spPr>
      </p:sp>
      <p:sp>
        <p:nvSpPr>
          <p:cNvPr id="6" name="Text 4"/>
          <p:cNvSpPr/>
          <p:nvPr/>
        </p:nvSpPr>
        <p:spPr>
          <a:xfrm>
            <a:off x="530352" y="6583680"/>
            <a:ext cx="3657600" cy="109728"/>
          </a:xfrm>
          <a:prstGeom prst="rect">
            <a:avLst/>
          </a:prstGeom>
          <a:noFill/>
          <a:ln/>
        </p:spPr>
        <p:txBody>
          <a:bodyPr wrap="square" lIns="0" tIns="0" rIns="0" bIns="0" rtlCol="0" anchor="ctr"/>
          <a:lstStyle/>
          <a:p>
            <a:pPr indent="0" marL="0">
              <a:buNone/>
            </a:pPr>
            <a:r>
              <a:rPr lang="en-US" sz="650" dirty="0">
                <a:solidFill>
                  <a:srgbClr val="BBC4E8"/>
                </a:solidFill>
              </a:rPr>
              <a:t>BACCHIRI! · MIDNIGHT BUILDATHON</a:t>
            </a:r>
            <a:endParaRPr lang="en-US" sz="650" dirty="0"/>
          </a:p>
        </p:txBody>
      </p:sp>
      <p:pic>
        <p:nvPicPr>
          <p:cNvPr id="7" name="Image 0" descr="/home/polonity/workspace/midnight/midnight_cloudflare_demo/.demo-output/submission-en-20260831/deck-assets/verify.png">    </p:cNvPr>
          <p:cNvPicPr>
            <a:picLocks noChangeAspect="1"/>
          </p:cNvPicPr>
          <p:nvPr/>
        </p:nvPicPr>
        <p:blipFill>
          <a:blip r:embed="rId1"/>
          <a:stretch>
            <a:fillRect/>
          </a:stretch>
        </p:blipFill>
        <p:spPr>
          <a:xfrm>
            <a:off x="502920" y="1691640"/>
            <a:ext cx="5577840" cy="3136392"/>
          </a:xfrm>
          <a:prstGeom prst="rect">
            <a:avLst/>
          </a:prstGeom>
        </p:spPr>
      </p:pic>
      <p:sp>
        <p:nvSpPr>
          <p:cNvPr id="8" name="Shape 5"/>
          <p:cNvSpPr/>
          <p:nvPr/>
        </p:nvSpPr>
        <p:spPr>
          <a:xfrm>
            <a:off x="502920" y="1691640"/>
            <a:ext cx="5577840" cy="3136392"/>
          </a:xfrm>
          <a:prstGeom prst="rect">
            <a:avLst/>
          </a:prstGeom>
          <a:solidFill>
            <a:srgbClr val="090D2F">
              <a:alpha val="0"/>
            </a:srgbClr>
          </a:solidFill>
          <a:ln w="16510">
            <a:solidFill>
              <a:srgbClr val="75F3E5"/>
            </a:solidFill>
            <a:prstDash val="solid"/>
          </a:ln>
        </p:spPr>
      </p:sp>
      <p:pic>
        <p:nvPicPr>
          <p:cNvPr id="9" name="Image 1" descr="/home/polonity/workspace/midnight/midnight_cloudflare_demo/.demo-output/submission-en-20260831/deck-assets/explorer.png">    </p:cNvPr>
          <p:cNvPicPr>
            <a:picLocks noChangeAspect="1"/>
          </p:cNvPicPr>
          <p:nvPr/>
        </p:nvPicPr>
        <p:blipFill>
          <a:blip r:embed="rId2"/>
          <a:stretch>
            <a:fillRect/>
          </a:stretch>
        </p:blipFill>
        <p:spPr>
          <a:xfrm>
            <a:off x="6245352" y="1691640"/>
            <a:ext cx="5440680" cy="3136392"/>
          </a:xfrm>
          <a:prstGeom prst="rect">
            <a:avLst/>
          </a:prstGeom>
        </p:spPr>
      </p:pic>
      <p:sp>
        <p:nvSpPr>
          <p:cNvPr id="10" name="Shape 6"/>
          <p:cNvSpPr/>
          <p:nvPr/>
        </p:nvSpPr>
        <p:spPr>
          <a:xfrm>
            <a:off x="6245352" y="1691640"/>
            <a:ext cx="5440680" cy="3136392"/>
          </a:xfrm>
          <a:prstGeom prst="rect">
            <a:avLst/>
          </a:prstGeom>
          <a:solidFill>
            <a:srgbClr val="090D2F">
              <a:alpha val="0"/>
            </a:srgbClr>
          </a:solidFill>
          <a:ln w="16510">
            <a:solidFill>
              <a:srgbClr val="75F3E5"/>
            </a:solidFill>
            <a:prstDash val="solid"/>
          </a:ln>
        </p:spPr>
      </p:sp>
      <p:sp>
        <p:nvSpPr>
          <p:cNvPr id="11" name="Shape 7"/>
          <p:cNvSpPr/>
          <p:nvPr/>
        </p:nvSpPr>
        <p:spPr>
          <a:xfrm>
            <a:off x="685800" y="5138928"/>
            <a:ext cx="10972800" cy="868680"/>
          </a:xfrm>
          <a:prstGeom prst="roundRect">
            <a:avLst>
              <a:gd name="adj" fmla="val 5263"/>
            </a:avLst>
          </a:prstGeom>
          <a:solidFill>
            <a:srgbClr val="111849"/>
          </a:solidFill>
          <a:ln w="15240">
            <a:solidFill>
              <a:srgbClr val="7CF0AA"/>
            </a:solidFill>
            <a:prstDash val="solid"/>
          </a:ln>
        </p:spPr>
      </p:sp>
      <p:sp>
        <p:nvSpPr>
          <p:cNvPr id="12" name="Text 8"/>
          <p:cNvSpPr/>
          <p:nvPr/>
        </p:nvSpPr>
        <p:spPr>
          <a:xfrm>
            <a:off x="914400" y="5413248"/>
            <a:ext cx="1097280" cy="237744"/>
          </a:xfrm>
          <a:prstGeom prst="rect">
            <a:avLst/>
          </a:prstGeom>
          <a:noFill/>
          <a:ln/>
        </p:spPr>
        <p:txBody>
          <a:bodyPr wrap="square" lIns="0" tIns="0" rIns="0" bIns="0" rtlCol="0" anchor="ctr"/>
          <a:lstStyle/>
          <a:p>
            <a:pPr algn="ctr" indent="0" marL="0">
              <a:buNone/>
            </a:pPr>
            <a:r>
              <a:rPr lang="en-US" sz="1300" b="1" dirty="0">
                <a:solidFill>
                  <a:srgbClr val="7CF0AA"/>
                </a:solidFill>
              </a:rPr>
              <a:t>PUBLIC</a:t>
            </a:r>
            <a:endParaRPr lang="en-US" sz="1300" dirty="0"/>
          </a:p>
        </p:txBody>
      </p:sp>
      <p:sp>
        <p:nvSpPr>
          <p:cNvPr id="13" name="Text 9"/>
          <p:cNvSpPr/>
          <p:nvPr/>
        </p:nvSpPr>
        <p:spPr>
          <a:xfrm>
            <a:off x="2057400" y="5404104"/>
            <a:ext cx="6812280" cy="256032"/>
          </a:xfrm>
          <a:prstGeom prst="rect">
            <a:avLst/>
          </a:prstGeom>
          <a:noFill/>
          <a:ln/>
        </p:spPr>
        <p:txBody>
          <a:bodyPr wrap="square" lIns="0" tIns="0" rIns="0" bIns="0" rtlCol="0" anchor="ctr">
            <a:normAutofit/>
          </a:bodyPr>
          <a:lstStyle/>
          <a:p>
            <a:pPr algn="ctr" indent="0" marL="0">
              <a:buNone/>
            </a:pPr>
            <a:r>
              <a:rPr lang="en-US" sz="1100" dirty="0">
                <a:solidFill>
                  <a:srgbClr val="FFFFFF"/>
                </a:solidFill>
              </a:rPr>
              <a:t>Day · Device binding · Threshold · Observed / STOPPED · Result · Commitment · Transaction</a:t>
            </a:r>
            <a:endParaRPr lang="en-US" sz="1100" dirty="0"/>
          </a:p>
        </p:txBody>
      </p:sp>
      <p:sp>
        <p:nvSpPr>
          <p:cNvPr id="14" name="Text 10"/>
          <p:cNvSpPr/>
          <p:nvPr/>
        </p:nvSpPr>
        <p:spPr>
          <a:xfrm>
            <a:off x="8988552" y="5413248"/>
            <a:ext cx="1051560" cy="237744"/>
          </a:xfrm>
          <a:prstGeom prst="rect">
            <a:avLst/>
          </a:prstGeom>
          <a:noFill/>
          <a:ln/>
        </p:spPr>
        <p:txBody>
          <a:bodyPr wrap="square" lIns="0" tIns="0" rIns="0" bIns="0" rtlCol="0" anchor="ctr"/>
          <a:lstStyle/>
          <a:p>
            <a:pPr algn="ctr" indent="0" marL="0">
              <a:buNone/>
            </a:pPr>
            <a:r>
              <a:rPr lang="en-US" sz="1300" b="1" dirty="0">
                <a:solidFill>
                  <a:srgbClr val="FF91A7"/>
                </a:solidFill>
              </a:rPr>
              <a:t>PRIVATE</a:t>
            </a:r>
            <a:endParaRPr lang="en-US" sz="1300" dirty="0"/>
          </a:p>
        </p:txBody>
      </p:sp>
      <p:sp>
        <p:nvSpPr>
          <p:cNvPr id="15" name="Text 11"/>
          <p:cNvSpPr/>
          <p:nvPr/>
        </p:nvSpPr>
        <p:spPr>
          <a:xfrm>
            <a:off x="10012680" y="5404104"/>
            <a:ext cx="1371600" cy="256032"/>
          </a:xfrm>
          <a:prstGeom prst="rect">
            <a:avLst/>
          </a:prstGeom>
          <a:noFill/>
          <a:ln/>
        </p:spPr>
        <p:txBody>
          <a:bodyPr wrap="square" lIns="0" tIns="0" rIns="0" bIns="0" rtlCol="0" anchor="ctr">
            <a:normAutofit/>
          </a:bodyPr>
          <a:lstStyle/>
          <a:p>
            <a:pPr algn="ctr" indent="0" marL="0">
              <a:buNone/>
            </a:pPr>
            <a:r>
              <a:rPr lang="en-US" sz="850" dirty="0">
                <a:solidFill>
                  <a:srgbClr val="FFFFFF"/>
                </a:solidFill>
              </a:rPr>
              <a:t>Readings · Hourly MIN / MAX · Nonce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D2F"/>
        </a:solidFill>
      </p:bgPr>
    </p:bg>
    <p:spTree>
      <p:nvGrpSpPr>
        <p:cNvPr id="1" name=""/>
        <p:cNvGrpSpPr/>
        <p:nvPr/>
      </p:nvGrpSpPr>
      <p:grpSpPr>
        <a:xfrm>
          <a:off x="0" y="0"/>
          <a:ext cx="0" cy="0"/>
          <a:chOff x="0" y="0"/>
          <a:chExt cx="0" cy="0"/>
        </a:xfrm>
      </p:grpSpPr>
      <p:pic>
        <p:nvPicPr>
          <p:cNvPr id="2" name="Image 0" descr="/home/polonity/workspace/midnight/midnight_cloudflare_demo/.demo-output/submission-en-20260831/deck-assets/claim-boundary-slide.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Continuous measurement. Scheduled proof.">
    <p:bg>
      <p:bgPr>
        <a:solidFill>
          <a:srgbClr val="06111F"/>
        </a:solidFill>
        <a:effectLst/>
      </p:bgPr>
    </p:bg>
    <p:spTree>
      <p:nvGrpSpPr>
        <p:cNvPr id="1" name=""/>
        <p:cNvGrpSpPr/>
        <p:nvPr/>
      </p:nvGrpSpPr>
      <p:grpSpPr>
        <a:xfrm>
          <a:off x="0" y="0"/>
          <a:ext cx="0" cy="0"/>
          <a:chOff x="0" y="0"/>
          <a:chExt cx="0" cy="0"/>
        </a:xfrm>
      </p:grpSpPr>
      <p:pic>
        <p:nvPicPr>
          <p:cNvPr id="2" name="Continuous measurement. Scheduled proof." descr="Deployed field integration on Midnight Preprod, checked September 10, 2026. Raw readings and Device authority keys stay on the Device. Hourly summaries and anomaly transitions reach the trusted backend; private proof inputs reach the Proof Server. Device authorization occurs locally before sponsorship. The Sponsor role adds DUST fees and submits the authorized transaction. A 02:00 JST cutoff is a processing start, not guaranteed completion. Missing measurements remain NO DATA. The original GUI footage is historical review evidence, not a live capture of this field workflow."/>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he Wallet runs only when work is due">
    <p:bg>
      <p:bgPr>
        <a:solidFill>
          <a:srgbClr val="06111F"/>
        </a:solidFill>
        <a:effectLst/>
      </p:bgPr>
    </p:bg>
    <p:spTree>
      <p:nvGrpSpPr>
        <p:cNvPr id="1" name=""/>
        <p:cNvGrpSpPr/>
        <p:nvPr/>
      </p:nvGrpSpPr>
      <p:grpSpPr>
        <a:xfrm>
          <a:off x="0" y="0"/>
          <a:ext cx="0" cy="0"/>
          <a:chOff x="0" y="0"/>
          <a:chExt cx="0" cy="0"/>
        </a:xfrm>
      </p:grpSpPr>
      <p:pic>
        <p:nvPicPr>
          <p:cNvPr id="2" name="The Wallet runs only when work is due" descr="Current operating mode: scheduled, daily start 02:00 JST. Worker Cron reads D1 before calling the Container, so a one-minute JOB check does not imply one-minute Wallet restarts. Synchronization and spendable fee state gate Wallet work. D1 leases serialize operations and protect overlapping Cron calls. Eligible work follows dependency state and oldest runnable acceptance time. Graceful shutdown persists an encrypted R2 checkpoint; restart cooldown is 60 seconds. The Device daily-submit service independently retries completed days every five minutes. Proof generation runs in the separate Proof Server Containe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Midnight Buildathon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BACCHIRI! — Verifiable Measurement Layer</dc:title>
  <dc:subject>Verifiable measurement evidence without raw sensor disclosure</dc:subject>
  <dc:creator>BACCHIRI! contributors</dc:creator>
  <cp:lastModifiedBy>BACCHIRI! contributors</cp:lastModifiedBy>
  <cp:revision>1</cp:revision>
  <dcterms:created xsi:type="dcterms:W3CDTF">2026-08-31T03:42:04Z</dcterms:created>
  <dcterms:modified xsi:type="dcterms:W3CDTF">2026-08-31T03:42:04Z</dcterms:modified>
</cp:coreProperties>
</file>