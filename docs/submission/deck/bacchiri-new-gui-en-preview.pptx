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Verify the result.
Keep the readings private.,Can another organization check a measurement result without receiving the sensor values? BACCHIRI turns private measurements into public, verifiable evidence, using Midnight and Cloudflare.,Edition new-gui-pitch-20260910; preview. GUI uses controlled synthetic measurements; field operation diagrams describe the separate device path. 02:00 JST is a processing start, not a confirmation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report asks for trust.
Evidence makes it checkable.,Measurement reporting crosses organizational boundaries. Operators hold sensitive records, while reviewers need to know which condition was applied and what happened. Our starting point is a verifiable daily report, with a partner pilot as the next business milestone.,Edition new-gui-pitch-20260910; preview. GUI uses controlled synthetic measurements; field operation diagrams describe the separate device path. 02:00 JST is a processing start, not a confirmation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Bind the Device and policy first,The GUI demonstration uses a controlled browser Device and generated test measurements. First, we show the registered Device and its public policy. The proof is tied to that identity and to a condition established before the measurement period.,G01: Capture: Device Workflow → registered Device and applied policy,Edition new-gui-pitch-20260910; preview. GUI uses controlled synthetic measurements; field operation diagrams describe the separate device path. 02:00 JST is a processing start, not a confirmation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day. Twenty-four hourly slots.,Select a completed day and check the record count. The private proof input represents twenty-four ordered hourly slots. A threshold violation remains an outside result, and a missing hour remains no data. The public view does not expose the underlying sensor values.,G02: Capture: selected date, record count, and private-input availability,Edition new-gui-pitch-20260910; preview. GUI uses controlled synthetic measurements; field operation diagrams describe the separate device path. 02:00 JST is a processing start, not a confirmation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Device authorizes. The service schedules.,Request the daily proof and authorize its processing. Keep the Proof Job ID so the request can be matched to its result. In the scheduled setup, eligible work starts at two A.M. Japan time. A queued request is still pending, not a verified result.,G03: 02:00 JST starts scheduled processing; confirmation can come later,Edition new-gui-pitch-20260910; preview. GUI uses controlled synthetic measurements; field operation diagrams describe the separate device path. 02:00 JST is a processing start, not a confirmation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 measurement. Scheduled proof.,On the field device, collection continues every minute, with hourly summary uploads. Cloudflare Workers serves the API and portal. D1 tracks jobs; Queues and Cron coordinate processing. Separate containers generate proofs and sponsor transactions, while R2 stores encrypted wallet checkpoints. Private proof inputs reach the trusted backend, but remain hidden from public viewers.,Edition new-gui-pitch-20260910; preview. GUI uses controlled synthetic measurements; field operation diagrams describe the separate device path. 02:00 JST is a processing start, not a confirmation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only when eligible work is due,The Worker checks eligible jobs before starting the wallet. When work is due, the wallet restores its checkpoint, synchronizes, and processes jobs one at a time. The Sponsor adds DUST fees to Device-authorized transactions. After the eligible work finishes, it saves state and stops. Sensor collection continues throughout.,Edition new-gui-pitch-20260910; preview. GUI uses controlled synthetic measurements; field operation diagrams describe the separate device path. 02:00 JST is a processing start, not a confirmation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same job after processing,After processing, return to the same job. Match the Device, date, and job identifier, then capture the confirmed transaction hash. This later recording shows the result; the waiting time is omitted from the video.,G04: Later capture · elapsed waiting time is omitted,Edition new-gui-pitch-20260910; preview. GUI uses controlled synthetic measurements; field operation diagrams describe the separate device path. 02:00 JST is a processing start, not a confirmation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reviewer starts with the transaction hash,Open third-party verification and paste that transaction hash. A reviewer can inspect the operational day, hourly results, applied policy, and public evidence without a Device session. The browser compares public Midnight records. It does not rerun the zero-knowledge proof verifier locally.,G05: No Device session required for the public verifier,Edition new-gui-pitch-20260910; preview. GUI uses controlled synthetic measurements; field operation diagrams describe the separate device path. 02:00 JST is a processing start, not a confirmation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precise proof has a clear boundary,The proof establishes the relationship between committed input, registered policy, and public result. It does not establish physical sensor accuracy, complete sampling, or correct source aggregation. The current backend is trusted. This boundary makes the evidence useful without overstating what it proves.,Edition new-gui-pitch-20260910; preview. GUI uses controlled synthetic measurements; field operation diagrams describe the separate device path. 02:00 JST is a processing start, not a confirmation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Turn a working proof flow
into a measured partner pilot,The core proof flow works on Midnight Preprod, with field collection and scheduled processing implemented. Next, we want a partner reporting workflow to measure reliability, review effort, and willingness to pay. BACCHIRI makes private measurement results independently checkable.,Edition new-gui-pitch-20260910; preview. GUI uses controlled synthetic measurements; field operation diagrams describe the separate device path. 02:00 JST is a processing start, not a confirmation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6111F"/>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solidFill>
            <a:srgbClr val="38D6E8"/>
          </a:solidFill>
          <a:ln w="6350">
            <a:solidFill>
              <a:srgbClr val="38D6E8"/>
            </a:solidFill>
            <a:prstDash val="solid"/>
          </a:ln>
        </p:spPr>
      </p:sp>
      <p:sp>
        <p:nvSpPr>
          <p:cNvPr id="3" name="Text 1"/>
          <p:cNvSpPr/>
          <p:nvPr/>
        </p:nvSpPr>
        <p:spPr>
          <a:xfrm>
            <a:off x="457200" y="330200"/>
            <a:ext cx="11277600" cy="236220"/>
          </a:xfrm>
          <a:prstGeom prst="rect">
            <a:avLst/>
          </a:prstGeom>
          <a:noFill/>
          <a:ln/>
        </p:spPr>
        <p:txBody>
          <a:bodyPr wrap="square" lIns="0" tIns="0" rIns="0" bIns="0" rtlCol="0" anchor="t">
            <a:spAutoFit/>
          </a:bodyPr>
          <a:lstStyle/>
          <a:p>
            <a:pPr indent="0" marL="0">
              <a:lnSpc>
                <a:spcPct val="108000"/>
              </a:lnSpc>
              <a:buNone/>
            </a:pPr>
            <a:r>
              <a:rPr lang="en-US" sz="1200" b="1" dirty="0">
                <a:solidFill>
                  <a:srgbClr val="38D6E8"/>
                </a:solidFill>
                <a:latin typeface="DejaVu Sans" pitchFamily="34" charset="0"/>
                <a:ea typeface="DejaVu Sans" pitchFamily="34" charset="-122"/>
                <a:cs typeface="DejaVu Sans" pitchFamily="34" charset="-120"/>
              </a:rPr>
              <a:t>BACCHIRI! / VERIFIABLE MEASUREMENT LAYER</a:t>
            </a:r>
            <a:endParaRPr lang="en-US" sz="1200" dirty="0"/>
          </a:p>
        </p:txBody>
      </p:sp>
      <p:sp>
        <p:nvSpPr>
          <p:cNvPr id="4" name="Text 2"/>
          <p:cNvSpPr/>
          <p:nvPr/>
        </p:nvSpPr>
        <p:spPr>
          <a:xfrm>
            <a:off x="457200" y="685800"/>
            <a:ext cx="11277600" cy="1303020"/>
          </a:xfrm>
          <a:prstGeom prst="rect">
            <a:avLst/>
          </a:prstGeom>
          <a:noFill/>
          <a:ln/>
        </p:spPr>
        <p:txBody>
          <a:bodyPr wrap="square" lIns="0" tIns="0" rIns="0" bIns="0" rtlCol="0" anchor="t">
            <a:spAutoFit/>
          </a:bodyPr>
          <a:lstStyle/>
          <a:p>
            <a:pPr indent="0" marL="0">
              <a:lnSpc>
                <a:spcPct val="108000"/>
              </a:lnSpc>
              <a:buNone/>
            </a:pPr>
            <a:r>
              <a:rPr lang="en-US" sz="3600" b="1" dirty="0">
                <a:solidFill>
                  <a:srgbClr val="F5F7FB"/>
                </a:solidFill>
                <a:latin typeface="DejaVu Sans" pitchFamily="34" charset="0"/>
                <a:ea typeface="DejaVu Sans" pitchFamily="34" charset="-122"/>
                <a:cs typeface="DejaVu Sans" pitchFamily="34" charset="-120"/>
              </a:rPr>
              <a:t>Verify the result.</a:t>
            </a:r>
            <a:endParaRPr lang="en-US" sz="3600" dirty="0"/>
          </a:p>
          <a:p>
            <a:pPr indent="0" marL="0">
              <a:lnSpc>
                <a:spcPct val="108000"/>
              </a:lnSpc>
              <a:buNone/>
            </a:pPr>
            <a:r>
              <a:rPr lang="en-US" sz="3600" b="1" dirty="0">
                <a:solidFill>
                  <a:srgbClr val="F5F7FB"/>
                </a:solidFill>
                <a:latin typeface="DejaVu Sans" pitchFamily="34" charset="0"/>
                <a:ea typeface="DejaVu Sans" pitchFamily="34" charset="-122"/>
                <a:cs typeface="DejaVu Sans" pitchFamily="34" charset="-120"/>
              </a:rPr>
              <a:t>Keep the readings private.</a:t>
            </a:r>
            <a:endParaRPr lang="en-US" sz="3600" dirty="0"/>
          </a:p>
        </p:txBody>
      </p:sp>
      <p:sp>
        <p:nvSpPr>
          <p:cNvPr id="5" name="Shape 3"/>
          <p:cNvSpPr/>
          <p:nvPr/>
        </p:nvSpPr>
        <p:spPr>
          <a:xfrm>
            <a:off x="457200" y="2451100"/>
            <a:ext cx="3606800" cy="2381250"/>
          </a:xfrm>
          <a:prstGeom prst="roundRect">
            <a:avLst>
              <a:gd name="adj" fmla="val 3733"/>
            </a:avLst>
          </a:prstGeom>
          <a:solidFill>
            <a:srgbClr val="0D1B2B"/>
          </a:solidFill>
          <a:ln w="6350">
            <a:solidFill>
              <a:srgbClr val="29415C"/>
            </a:solidFill>
            <a:prstDash val="solid"/>
          </a:ln>
        </p:spPr>
      </p:sp>
      <p:sp>
        <p:nvSpPr>
          <p:cNvPr id="6" name="Shape 4"/>
          <p:cNvSpPr/>
          <p:nvPr/>
        </p:nvSpPr>
        <p:spPr>
          <a:xfrm>
            <a:off x="647700" y="2673350"/>
            <a:ext cx="342900" cy="31750"/>
          </a:xfrm>
          <a:prstGeom prst="rect">
            <a:avLst/>
          </a:prstGeom>
          <a:solidFill>
            <a:srgbClr val="38D6E8"/>
          </a:solidFill>
          <a:ln w="6350">
            <a:solidFill>
              <a:srgbClr val="38D6E8"/>
            </a:solidFill>
            <a:prstDash val="solid"/>
          </a:ln>
        </p:spPr>
      </p:sp>
      <p:sp>
        <p:nvSpPr>
          <p:cNvPr id="7" name="Text 5"/>
          <p:cNvSpPr/>
          <p:nvPr/>
        </p:nvSpPr>
        <p:spPr>
          <a:xfrm>
            <a:off x="647700" y="2908300"/>
            <a:ext cx="3225800" cy="413385"/>
          </a:xfrm>
          <a:prstGeom prst="rect">
            <a:avLst/>
          </a:prstGeom>
          <a:noFill/>
          <a:ln/>
        </p:spPr>
        <p:txBody>
          <a:bodyPr wrap="square" lIns="0" tIns="0" rIns="0" bIns="0" rtlCol="0" anchor="t">
            <a:spAutoFit/>
          </a:bodyPr>
          <a:lstStyle/>
          <a:p>
            <a:pPr indent="0" marL="0">
              <a:lnSpc>
                <a:spcPct val="108000"/>
              </a:lnSpc>
              <a:buNone/>
            </a:pPr>
            <a:r>
              <a:rPr lang="en-US" sz="2100" b="1" dirty="0">
                <a:solidFill>
                  <a:srgbClr val="38D6E8"/>
                </a:solidFill>
                <a:latin typeface="DejaVu Sans" pitchFamily="34" charset="0"/>
                <a:ea typeface="DejaVu Sans" pitchFamily="34" charset="-122"/>
                <a:cs typeface="DejaVu Sans" pitchFamily="34" charset="-120"/>
              </a:rPr>
              <a:t>Measure</a:t>
            </a:r>
            <a:endParaRPr lang="en-US" sz="2100" dirty="0"/>
          </a:p>
        </p:txBody>
      </p:sp>
      <p:sp>
        <p:nvSpPr>
          <p:cNvPr id="8" name="Text 6"/>
          <p:cNvSpPr/>
          <p:nvPr/>
        </p:nvSpPr>
        <p:spPr>
          <a:xfrm>
            <a:off x="647700" y="3429000"/>
            <a:ext cx="3225800" cy="334645"/>
          </a:xfrm>
          <a:prstGeom prst="rect">
            <a:avLst/>
          </a:prstGeom>
          <a:noFill/>
          <a:ln/>
        </p:spPr>
        <p:txBody>
          <a:bodyPr wrap="square" lIns="0" tIns="0" rIns="0" bIns="0" rtlCol="0" anchor="t">
            <a:spAutoFit/>
          </a:bodyPr>
          <a:lstStyle/>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Capture the source record.</a:t>
            </a:r>
            <a:endParaRPr lang="en-US" sz="1700" dirty="0"/>
          </a:p>
        </p:txBody>
      </p:sp>
      <p:sp>
        <p:nvSpPr>
          <p:cNvPr id="9" name="Shape 7"/>
          <p:cNvSpPr/>
          <p:nvPr/>
        </p:nvSpPr>
        <p:spPr>
          <a:xfrm>
            <a:off x="4292600" y="2451100"/>
            <a:ext cx="3606800" cy="2381250"/>
          </a:xfrm>
          <a:prstGeom prst="roundRect">
            <a:avLst>
              <a:gd name="adj" fmla="val 3733"/>
            </a:avLst>
          </a:prstGeom>
          <a:solidFill>
            <a:srgbClr val="0D1B2B"/>
          </a:solidFill>
          <a:ln w="6350">
            <a:solidFill>
              <a:srgbClr val="29415C"/>
            </a:solidFill>
            <a:prstDash val="solid"/>
          </a:ln>
        </p:spPr>
      </p:sp>
      <p:sp>
        <p:nvSpPr>
          <p:cNvPr id="10" name="Shape 8"/>
          <p:cNvSpPr/>
          <p:nvPr/>
        </p:nvSpPr>
        <p:spPr>
          <a:xfrm>
            <a:off x="4483100" y="2673350"/>
            <a:ext cx="342900" cy="31750"/>
          </a:xfrm>
          <a:prstGeom prst="rect">
            <a:avLst/>
          </a:prstGeom>
          <a:solidFill>
            <a:srgbClr val="A66CFF"/>
          </a:solidFill>
          <a:ln w="6350">
            <a:solidFill>
              <a:srgbClr val="A66CFF"/>
            </a:solidFill>
            <a:prstDash val="solid"/>
          </a:ln>
        </p:spPr>
      </p:sp>
      <p:sp>
        <p:nvSpPr>
          <p:cNvPr id="11" name="Text 9"/>
          <p:cNvSpPr/>
          <p:nvPr/>
        </p:nvSpPr>
        <p:spPr>
          <a:xfrm>
            <a:off x="4483100" y="2908300"/>
            <a:ext cx="3225800" cy="413385"/>
          </a:xfrm>
          <a:prstGeom prst="rect">
            <a:avLst/>
          </a:prstGeom>
          <a:noFill/>
          <a:ln/>
        </p:spPr>
        <p:txBody>
          <a:bodyPr wrap="square" lIns="0" tIns="0" rIns="0" bIns="0" rtlCol="0" anchor="t">
            <a:spAutoFit/>
          </a:bodyPr>
          <a:lstStyle/>
          <a:p>
            <a:pPr indent="0" marL="0">
              <a:lnSpc>
                <a:spcPct val="108000"/>
              </a:lnSpc>
              <a:buNone/>
            </a:pPr>
            <a:r>
              <a:rPr lang="en-US" sz="2100" b="1" dirty="0">
                <a:solidFill>
                  <a:srgbClr val="A66CFF"/>
                </a:solidFill>
                <a:latin typeface="DejaVu Sans" pitchFamily="34" charset="0"/>
                <a:ea typeface="DejaVu Sans" pitchFamily="34" charset="-122"/>
                <a:cs typeface="DejaVu Sans" pitchFamily="34" charset="-120"/>
              </a:rPr>
              <a:t>Prove</a:t>
            </a:r>
            <a:endParaRPr lang="en-US" sz="2100" dirty="0"/>
          </a:p>
        </p:txBody>
      </p:sp>
      <p:sp>
        <p:nvSpPr>
          <p:cNvPr id="12" name="Text 10"/>
          <p:cNvSpPr/>
          <p:nvPr/>
        </p:nvSpPr>
        <p:spPr>
          <a:xfrm>
            <a:off x="4483100" y="3429000"/>
            <a:ext cx="3225800" cy="334645"/>
          </a:xfrm>
          <a:prstGeom prst="rect">
            <a:avLst/>
          </a:prstGeom>
          <a:noFill/>
          <a:ln/>
        </p:spPr>
        <p:txBody>
          <a:bodyPr wrap="square" lIns="0" tIns="0" rIns="0" bIns="0" rtlCol="0" anchor="t">
            <a:spAutoFit/>
          </a:bodyPr>
          <a:lstStyle/>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Apply the registered policy.</a:t>
            </a:r>
            <a:endParaRPr lang="en-US" sz="1700" dirty="0"/>
          </a:p>
        </p:txBody>
      </p:sp>
      <p:sp>
        <p:nvSpPr>
          <p:cNvPr id="13" name="Shape 11"/>
          <p:cNvSpPr/>
          <p:nvPr/>
        </p:nvSpPr>
        <p:spPr>
          <a:xfrm>
            <a:off x="8128000" y="2451100"/>
            <a:ext cx="3606800" cy="2381250"/>
          </a:xfrm>
          <a:prstGeom prst="roundRect">
            <a:avLst>
              <a:gd name="adj" fmla="val 3733"/>
            </a:avLst>
          </a:prstGeom>
          <a:solidFill>
            <a:srgbClr val="0D1B2B"/>
          </a:solidFill>
          <a:ln w="6350">
            <a:solidFill>
              <a:srgbClr val="29415C"/>
            </a:solidFill>
            <a:prstDash val="solid"/>
          </a:ln>
        </p:spPr>
      </p:sp>
      <p:sp>
        <p:nvSpPr>
          <p:cNvPr id="14" name="Shape 12"/>
          <p:cNvSpPr/>
          <p:nvPr/>
        </p:nvSpPr>
        <p:spPr>
          <a:xfrm>
            <a:off x="8318500" y="2673350"/>
            <a:ext cx="342900" cy="31750"/>
          </a:xfrm>
          <a:prstGeom prst="rect">
            <a:avLst/>
          </a:prstGeom>
          <a:solidFill>
            <a:srgbClr val="79D66A"/>
          </a:solidFill>
          <a:ln w="6350">
            <a:solidFill>
              <a:srgbClr val="79D66A"/>
            </a:solidFill>
            <a:prstDash val="solid"/>
          </a:ln>
        </p:spPr>
      </p:sp>
      <p:sp>
        <p:nvSpPr>
          <p:cNvPr id="15" name="Text 13"/>
          <p:cNvSpPr/>
          <p:nvPr/>
        </p:nvSpPr>
        <p:spPr>
          <a:xfrm>
            <a:off x="8318500" y="2908300"/>
            <a:ext cx="3225800" cy="413385"/>
          </a:xfrm>
          <a:prstGeom prst="rect">
            <a:avLst/>
          </a:prstGeom>
          <a:noFill/>
          <a:ln/>
        </p:spPr>
        <p:txBody>
          <a:bodyPr wrap="square" lIns="0" tIns="0" rIns="0" bIns="0" rtlCol="0" anchor="t">
            <a:spAutoFit/>
          </a:bodyPr>
          <a:lstStyle/>
          <a:p>
            <a:pPr indent="0" marL="0">
              <a:lnSpc>
                <a:spcPct val="108000"/>
              </a:lnSpc>
              <a:buNone/>
            </a:pPr>
            <a:r>
              <a:rPr lang="en-US" sz="2100" b="1" dirty="0">
                <a:solidFill>
                  <a:srgbClr val="79D66A"/>
                </a:solidFill>
                <a:latin typeface="DejaVu Sans" pitchFamily="34" charset="0"/>
                <a:ea typeface="DejaVu Sans" pitchFamily="34" charset="-122"/>
                <a:cs typeface="DejaVu Sans" pitchFamily="34" charset="-120"/>
              </a:rPr>
              <a:t>Verify</a:t>
            </a:r>
            <a:endParaRPr lang="en-US" sz="2100" dirty="0"/>
          </a:p>
        </p:txBody>
      </p:sp>
      <p:sp>
        <p:nvSpPr>
          <p:cNvPr id="16" name="Text 14"/>
          <p:cNvSpPr/>
          <p:nvPr/>
        </p:nvSpPr>
        <p:spPr>
          <a:xfrm>
            <a:off x="8318500" y="3429000"/>
            <a:ext cx="3225800" cy="334645"/>
          </a:xfrm>
          <a:prstGeom prst="rect">
            <a:avLst/>
          </a:prstGeom>
          <a:noFill/>
          <a:ln/>
        </p:spPr>
        <p:txBody>
          <a:bodyPr wrap="square" lIns="0" tIns="0" rIns="0" bIns="0" rtlCol="0" anchor="t">
            <a:spAutoFit/>
          </a:bodyPr>
          <a:lstStyle/>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Share the public evidence.</a:t>
            </a:r>
            <a:endParaRPr lang="en-US" sz="1700" dirty="0"/>
          </a:p>
        </p:txBody>
      </p:sp>
      <p:sp>
        <p:nvSpPr>
          <p:cNvPr id="17" name="Text 15"/>
          <p:cNvSpPr/>
          <p:nvPr/>
        </p:nvSpPr>
        <p:spPr>
          <a:xfrm>
            <a:off x="457200" y="5156200"/>
            <a:ext cx="11277600" cy="314960"/>
          </a:xfrm>
          <a:prstGeom prst="rect">
            <a:avLst/>
          </a:prstGeom>
          <a:noFill/>
          <a:ln/>
        </p:spPr>
        <p:txBody>
          <a:bodyPr wrap="square" lIns="0" tIns="0" rIns="0" bIns="0" rtlCol="0" anchor="t">
            <a:spAutoFit/>
          </a:bodyPr>
          <a:lstStyle/>
          <a:p>
            <a:pPr indent="0" marL="0">
              <a:lnSpc>
                <a:spcPct val="108000"/>
              </a:lnSpc>
              <a:buNone/>
            </a:pPr>
            <a:r>
              <a:rPr lang="en-US" sz="1600" dirty="0">
                <a:solidFill>
                  <a:srgbClr val="AAB7C8"/>
                </a:solidFill>
                <a:latin typeface="DejaVu Sans" pitchFamily="34" charset="0"/>
                <a:ea typeface="DejaVu Sans" pitchFamily="34" charset="-122"/>
                <a:cs typeface="DejaVu Sans" pitchFamily="34" charset="-120"/>
              </a:rPr>
              <a:t>Private measurements → a result another organization can check</a:t>
            </a:r>
            <a:endParaRPr lang="en-US" sz="1600" dirty="0"/>
          </a:p>
        </p:txBody>
      </p:sp>
      <p:sp>
        <p:nvSpPr>
          <p:cNvPr id="18" name="Shape 16"/>
          <p:cNvSpPr/>
          <p:nvPr/>
        </p:nvSpPr>
        <p:spPr>
          <a:xfrm>
            <a:off x="457200" y="6540500"/>
            <a:ext cx="11277600" cy="6350"/>
          </a:xfrm>
          <a:prstGeom prst="rect">
            <a:avLst/>
          </a:prstGeom>
          <a:solidFill>
            <a:srgbClr val="29415C"/>
          </a:solidFill>
          <a:ln w="6350">
            <a:solidFill>
              <a:srgbClr val="29415C"/>
            </a:solidFill>
            <a:prstDash val="solid"/>
          </a:ln>
        </p:spPr>
      </p:sp>
      <p:sp>
        <p:nvSpPr>
          <p:cNvPr id="19" name="Text 17"/>
          <p:cNvSpPr/>
          <p:nvPr/>
        </p:nvSpPr>
        <p:spPr>
          <a:xfrm>
            <a:off x="457200" y="6604000"/>
            <a:ext cx="92075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F6821F"/>
                </a:solidFill>
                <a:latin typeface="DejaVu Sans" pitchFamily="34" charset="0"/>
                <a:ea typeface="DejaVu Sans" pitchFamily="34" charset="-122"/>
                <a:cs typeface="DejaVu Sans" pitchFamily="34" charset="-120"/>
              </a:rPr>
              <a:t>EDIT PREVIEW · NEW GUI RECORDING PENDING</a:t>
            </a:r>
            <a:endParaRPr lang="en-US" sz="900" dirty="0"/>
          </a:p>
        </p:txBody>
      </p:sp>
      <p:sp>
        <p:nvSpPr>
          <p:cNvPr id="20" name="Text 18"/>
          <p:cNvSpPr/>
          <p:nvPr/>
        </p:nvSpPr>
        <p:spPr>
          <a:xfrm>
            <a:off x="10858500" y="6604000"/>
            <a:ext cx="8763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AAB7C8"/>
                </a:solidFill>
                <a:latin typeface="DejaVu Sans" pitchFamily="34" charset="0"/>
                <a:ea typeface="DejaVu Sans" pitchFamily="34" charset="-122"/>
                <a:cs typeface="DejaVu Sans" pitchFamily="34" charset="-120"/>
              </a:rPr>
              <a:t>01 / 11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6111F"/>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solidFill>
            <a:srgbClr val="38D6E8"/>
          </a:solidFill>
          <a:ln w="6350">
            <a:solidFill>
              <a:srgbClr val="38D6E8"/>
            </a:solidFill>
            <a:prstDash val="solid"/>
          </a:ln>
        </p:spPr>
      </p:sp>
      <p:sp>
        <p:nvSpPr>
          <p:cNvPr id="3" name="Text 1"/>
          <p:cNvSpPr/>
          <p:nvPr/>
        </p:nvSpPr>
        <p:spPr>
          <a:xfrm>
            <a:off x="457200" y="330200"/>
            <a:ext cx="11277600" cy="236220"/>
          </a:xfrm>
          <a:prstGeom prst="rect">
            <a:avLst/>
          </a:prstGeom>
          <a:noFill/>
          <a:ln/>
        </p:spPr>
        <p:txBody>
          <a:bodyPr wrap="square" lIns="0" tIns="0" rIns="0" bIns="0" rtlCol="0" anchor="t">
            <a:spAutoFit/>
          </a:bodyPr>
          <a:lstStyle/>
          <a:p>
            <a:pPr indent="0" marL="0">
              <a:lnSpc>
                <a:spcPct val="108000"/>
              </a:lnSpc>
              <a:buNone/>
            </a:pPr>
            <a:r>
              <a:rPr lang="en-US" sz="1200" b="1" dirty="0">
                <a:solidFill>
                  <a:srgbClr val="38D6E8"/>
                </a:solidFill>
                <a:latin typeface="DejaVu Sans" pitchFamily="34" charset="0"/>
                <a:ea typeface="DejaVu Sans" pitchFamily="34" charset="-122"/>
                <a:cs typeface="DejaVu Sans" pitchFamily="34" charset="-120"/>
              </a:rPr>
              <a:t>THE REPORTING PROBLEM</a:t>
            </a:r>
            <a:endParaRPr lang="en-US" sz="1200" dirty="0"/>
          </a:p>
        </p:txBody>
      </p:sp>
      <p:sp>
        <p:nvSpPr>
          <p:cNvPr id="4" name="Text 2"/>
          <p:cNvSpPr/>
          <p:nvPr/>
        </p:nvSpPr>
        <p:spPr>
          <a:xfrm>
            <a:off x="457200" y="685800"/>
            <a:ext cx="11277600" cy="1303020"/>
          </a:xfrm>
          <a:prstGeom prst="rect">
            <a:avLst/>
          </a:prstGeom>
          <a:noFill/>
          <a:ln/>
        </p:spPr>
        <p:txBody>
          <a:bodyPr wrap="square" lIns="0" tIns="0" rIns="0" bIns="0" rtlCol="0" anchor="t">
            <a:spAutoFit/>
          </a:bodyPr>
          <a:lstStyle/>
          <a:p>
            <a:pPr indent="0" marL="0">
              <a:lnSpc>
                <a:spcPct val="108000"/>
              </a:lnSpc>
              <a:buNone/>
            </a:pPr>
            <a:r>
              <a:rPr lang="en-US" sz="3600" b="1" dirty="0">
                <a:solidFill>
                  <a:srgbClr val="F5F7FB"/>
                </a:solidFill>
                <a:latin typeface="DejaVu Sans" pitchFamily="34" charset="0"/>
                <a:ea typeface="DejaVu Sans" pitchFamily="34" charset="-122"/>
                <a:cs typeface="DejaVu Sans" pitchFamily="34" charset="-120"/>
              </a:rPr>
              <a:t>A report asks for trust.</a:t>
            </a:r>
            <a:endParaRPr lang="en-US" sz="3600" dirty="0"/>
          </a:p>
          <a:p>
            <a:pPr indent="0" marL="0">
              <a:lnSpc>
                <a:spcPct val="108000"/>
              </a:lnSpc>
              <a:buNone/>
            </a:pPr>
            <a:r>
              <a:rPr lang="en-US" sz="3600" b="1" dirty="0">
                <a:solidFill>
                  <a:srgbClr val="F5F7FB"/>
                </a:solidFill>
                <a:latin typeface="DejaVu Sans" pitchFamily="34" charset="0"/>
                <a:ea typeface="DejaVu Sans" pitchFamily="34" charset="-122"/>
                <a:cs typeface="DejaVu Sans" pitchFamily="34" charset="-120"/>
              </a:rPr>
              <a:t>Evidence makes it checkable.</a:t>
            </a:r>
            <a:endParaRPr lang="en-US" sz="3600" dirty="0"/>
          </a:p>
        </p:txBody>
      </p:sp>
      <p:sp>
        <p:nvSpPr>
          <p:cNvPr id="5" name="Shape 3"/>
          <p:cNvSpPr/>
          <p:nvPr/>
        </p:nvSpPr>
        <p:spPr>
          <a:xfrm>
            <a:off x="457200" y="2451100"/>
            <a:ext cx="3606800" cy="2381250"/>
          </a:xfrm>
          <a:prstGeom prst="roundRect">
            <a:avLst>
              <a:gd name="adj" fmla="val 3733"/>
            </a:avLst>
          </a:prstGeom>
          <a:solidFill>
            <a:srgbClr val="0D1B2B"/>
          </a:solidFill>
          <a:ln w="6350">
            <a:solidFill>
              <a:srgbClr val="29415C"/>
            </a:solidFill>
            <a:prstDash val="solid"/>
          </a:ln>
        </p:spPr>
      </p:sp>
      <p:sp>
        <p:nvSpPr>
          <p:cNvPr id="6" name="Shape 4"/>
          <p:cNvSpPr/>
          <p:nvPr/>
        </p:nvSpPr>
        <p:spPr>
          <a:xfrm>
            <a:off x="647700" y="2673350"/>
            <a:ext cx="342900" cy="31750"/>
          </a:xfrm>
          <a:prstGeom prst="rect">
            <a:avLst/>
          </a:prstGeom>
          <a:solidFill>
            <a:srgbClr val="38D6E8"/>
          </a:solidFill>
          <a:ln w="6350">
            <a:solidFill>
              <a:srgbClr val="38D6E8"/>
            </a:solidFill>
            <a:prstDash val="solid"/>
          </a:ln>
        </p:spPr>
      </p:sp>
      <p:sp>
        <p:nvSpPr>
          <p:cNvPr id="7" name="Text 5"/>
          <p:cNvSpPr/>
          <p:nvPr/>
        </p:nvSpPr>
        <p:spPr>
          <a:xfrm>
            <a:off x="647700" y="2908300"/>
            <a:ext cx="3225800" cy="413385"/>
          </a:xfrm>
          <a:prstGeom prst="rect">
            <a:avLst/>
          </a:prstGeom>
          <a:noFill/>
          <a:ln/>
        </p:spPr>
        <p:txBody>
          <a:bodyPr wrap="square" lIns="0" tIns="0" rIns="0" bIns="0" rtlCol="0" anchor="t">
            <a:spAutoFit/>
          </a:bodyPr>
          <a:lstStyle/>
          <a:p>
            <a:pPr indent="0" marL="0">
              <a:lnSpc>
                <a:spcPct val="108000"/>
              </a:lnSpc>
              <a:buNone/>
            </a:pPr>
            <a:r>
              <a:rPr lang="en-US" sz="2100" b="1" dirty="0">
                <a:solidFill>
                  <a:srgbClr val="38D6E8"/>
                </a:solidFill>
                <a:latin typeface="DejaVu Sans" pitchFamily="34" charset="0"/>
                <a:ea typeface="DejaVu Sans" pitchFamily="34" charset="-122"/>
                <a:cs typeface="DejaVu Sans" pitchFamily="34" charset="-120"/>
              </a:rPr>
              <a:t>Operator</a:t>
            </a:r>
            <a:endParaRPr lang="en-US" sz="2100" dirty="0"/>
          </a:p>
        </p:txBody>
      </p:sp>
      <p:sp>
        <p:nvSpPr>
          <p:cNvPr id="8" name="Text 6"/>
          <p:cNvSpPr/>
          <p:nvPr/>
        </p:nvSpPr>
        <p:spPr>
          <a:xfrm>
            <a:off x="647700" y="3429000"/>
            <a:ext cx="3225800" cy="615315"/>
          </a:xfrm>
          <a:prstGeom prst="rect">
            <a:avLst/>
          </a:prstGeom>
          <a:noFill/>
          <a:ln/>
        </p:spPr>
        <p:txBody>
          <a:bodyPr wrap="square" lIns="0" tIns="0" rIns="0" bIns="0" rtlCol="0" anchor="t">
            <a:spAutoFit/>
          </a:bodyPr>
          <a:lstStyle/>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Holds sensitive measurement</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records.</a:t>
            </a:r>
            <a:endParaRPr lang="en-US" sz="1700" dirty="0"/>
          </a:p>
        </p:txBody>
      </p:sp>
      <p:sp>
        <p:nvSpPr>
          <p:cNvPr id="9" name="Shape 7"/>
          <p:cNvSpPr/>
          <p:nvPr/>
        </p:nvSpPr>
        <p:spPr>
          <a:xfrm>
            <a:off x="4292600" y="2451100"/>
            <a:ext cx="3606800" cy="2381250"/>
          </a:xfrm>
          <a:prstGeom prst="roundRect">
            <a:avLst>
              <a:gd name="adj" fmla="val 3733"/>
            </a:avLst>
          </a:prstGeom>
          <a:solidFill>
            <a:srgbClr val="0D1B2B"/>
          </a:solidFill>
          <a:ln w="6350">
            <a:solidFill>
              <a:srgbClr val="29415C"/>
            </a:solidFill>
            <a:prstDash val="solid"/>
          </a:ln>
        </p:spPr>
      </p:sp>
      <p:sp>
        <p:nvSpPr>
          <p:cNvPr id="10" name="Shape 8"/>
          <p:cNvSpPr/>
          <p:nvPr/>
        </p:nvSpPr>
        <p:spPr>
          <a:xfrm>
            <a:off x="4483100" y="2673350"/>
            <a:ext cx="342900" cy="31750"/>
          </a:xfrm>
          <a:prstGeom prst="rect">
            <a:avLst/>
          </a:prstGeom>
          <a:solidFill>
            <a:srgbClr val="A66CFF"/>
          </a:solidFill>
          <a:ln w="6350">
            <a:solidFill>
              <a:srgbClr val="A66CFF"/>
            </a:solidFill>
            <a:prstDash val="solid"/>
          </a:ln>
        </p:spPr>
      </p:sp>
      <p:sp>
        <p:nvSpPr>
          <p:cNvPr id="11" name="Text 9"/>
          <p:cNvSpPr/>
          <p:nvPr/>
        </p:nvSpPr>
        <p:spPr>
          <a:xfrm>
            <a:off x="4483100" y="2908300"/>
            <a:ext cx="3225800" cy="413385"/>
          </a:xfrm>
          <a:prstGeom prst="rect">
            <a:avLst/>
          </a:prstGeom>
          <a:noFill/>
          <a:ln/>
        </p:spPr>
        <p:txBody>
          <a:bodyPr wrap="square" lIns="0" tIns="0" rIns="0" bIns="0" rtlCol="0" anchor="t">
            <a:spAutoFit/>
          </a:bodyPr>
          <a:lstStyle/>
          <a:p>
            <a:pPr indent="0" marL="0">
              <a:lnSpc>
                <a:spcPct val="108000"/>
              </a:lnSpc>
              <a:buNone/>
            </a:pPr>
            <a:r>
              <a:rPr lang="en-US" sz="2100" b="1" dirty="0">
                <a:solidFill>
                  <a:srgbClr val="A66CFF"/>
                </a:solidFill>
                <a:latin typeface="DejaVu Sans" pitchFamily="34" charset="0"/>
                <a:ea typeface="DejaVu Sans" pitchFamily="34" charset="-122"/>
                <a:cs typeface="DejaVu Sans" pitchFamily="34" charset="-120"/>
              </a:rPr>
              <a:t>Reviewer</a:t>
            </a:r>
            <a:endParaRPr lang="en-US" sz="2100" dirty="0"/>
          </a:p>
        </p:txBody>
      </p:sp>
      <p:sp>
        <p:nvSpPr>
          <p:cNvPr id="12" name="Text 10"/>
          <p:cNvSpPr/>
          <p:nvPr/>
        </p:nvSpPr>
        <p:spPr>
          <a:xfrm>
            <a:off x="4483100" y="3429000"/>
            <a:ext cx="3225800" cy="615315"/>
          </a:xfrm>
          <a:prstGeom prst="rect">
            <a:avLst/>
          </a:prstGeom>
          <a:noFill/>
          <a:ln/>
        </p:spPr>
        <p:txBody>
          <a:bodyPr wrap="square" lIns="0" tIns="0" rIns="0" bIns="0" rtlCol="0" anchor="t">
            <a:spAutoFit/>
          </a:bodyPr>
          <a:lstStyle/>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Needs the condition, date,</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and result.</a:t>
            </a:r>
            <a:endParaRPr lang="en-US" sz="1700" dirty="0"/>
          </a:p>
        </p:txBody>
      </p:sp>
      <p:sp>
        <p:nvSpPr>
          <p:cNvPr id="13" name="Shape 11"/>
          <p:cNvSpPr/>
          <p:nvPr/>
        </p:nvSpPr>
        <p:spPr>
          <a:xfrm>
            <a:off x="8128000" y="2451100"/>
            <a:ext cx="3606800" cy="2381250"/>
          </a:xfrm>
          <a:prstGeom prst="roundRect">
            <a:avLst>
              <a:gd name="adj" fmla="val 3733"/>
            </a:avLst>
          </a:prstGeom>
          <a:solidFill>
            <a:srgbClr val="0D1B2B"/>
          </a:solidFill>
          <a:ln w="6350">
            <a:solidFill>
              <a:srgbClr val="29415C"/>
            </a:solidFill>
            <a:prstDash val="solid"/>
          </a:ln>
        </p:spPr>
      </p:sp>
      <p:sp>
        <p:nvSpPr>
          <p:cNvPr id="14" name="Shape 12"/>
          <p:cNvSpPr/>
          <p:nvPr/>
        </p:nvSpPr>
        <p:spPr>
          <a:xfrm>
            <a:off x="8318500" y="2673350"/>
            <a:ext cx="342900" cy="31750"/>
          </a:xfrm>
          <a:prstGeom prst="rect">
            <a:avLst/>
          </a:prstGeom>
          <a:solidFill>
            <a:srgbClr val="79D66A"/>
          </a:solidFill>
          <a:ln w="6350">
            <a:solidFill>
              <a:srgbClr val="79D66A"/>
            </a:solidFill>
            <a:prstDash val="solid"/>
          </a:ln>
        </p:spPr>
      </p:sp>
      <p:sp>
        <p:nvSpPr>
          <p:cNvPr id="15" name="Text 13"/>
          <p:cNvSpPr/>
          <p:nvPr/>
        </p:nvSpPr>
        <p:spPr>
          <a:xfrm>
            <a:off x="8318500" y="2908300"/>
            <a:ext cx="3225800" cy="413385"/>
          </a:xfrm>
          <a:prstGeom prst="rect">
            <a:avLst/>
          </a:prstGeom>
          <a:noFill/>
          <a:ln/>
        </p:spPr>
        <p:txBody>
          <a:bodyPr wrap="square" lIns="0" tIns="0" rIns="0" bIns="0" rtlCol="0" anchor="t">
            <a:spAutoFit/>
          </a:bodyPr>
          <a:lstStyle/>
          <a:p>
            <a:pPr indent="0" marL="0">
              <a:lnSpc>
                <a:spcPct val="108000"/>
              </a:lnSpc>
              <a:buNone/>
            </a:pPr>
            <a:r>
              <a:rPr lang="en-US" sz="2100" b="1" dirty="0">
                <a:solidFill>
                  <a:srgbClr val="79D66A"/>
                </a:solidFill>
                <a:latin typeface="DejaVu Sans" pitchFamily="34" charset="0"/>
                <a:ea typeface="DejaVu Sans" pitchFamily="34" charset="-122"/>
                <a:cs typeface="DejaVu Sans" pitchFamily="34" charset="-120"/>
              </a:rPr>
              <a:t>BACCHIRI</a:t>
            </a:r>
            <a:endParaRPr lang="en-US" sz="2100" dirty="0"/>
          </a:p>
        </p:txBody>
      </p:sp>
      <p:sp>
        <p:nvSpPr>
          <p:cNvPr id="16" name="Text 14"/>
          <p:cNvSpPr/>
          <p:nvPr/>
        </p:nvSpPr>
        <p:spPr>
          <a:xfrm>
            <a:off x="8318500" y="3429000"/>
            <a:ext cx="3225800" cy="615315"/>
          </a:xfrm>
          <a:prstGeom prst="rect">
            <a:avLst/>
          </a:prstGeom>
          <a:noFill/>
          <a:ln/>
        </p:spPr>
        <p:txBody>
          <a:bodyPr wrap="square" lIns="0" tIns="0" rIns="0" bIns="0" rtlCol="0" anchor="t">
            <a:spAutoFit/>
          </a:bodyPr>
          <a:lstStyle/>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Binds that result to a</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registered policy.</a:t>
            </a:r>
            <a:endParaRPr lang="en-US" sz="1700" dirty="0"/>
          </a:p>
        </p:txBody>
      </p:sp>
      <p:sp>
        <p:nvSpPr>
          <p:cNvPr id="17" name="Text 15"/>
          <p:cNvSpPr/>
          <p:nvPr/>
        </p:nvSpPr>
        <p:spPr>
          <a:xfrm>
            <a:off x="457200" y="5156200"/>
            <a:ext cx="11277600" cy="314960"/>
          </a:xfrm>
          <a:prstGeom prst="rect">
            <a:avLst/>
          </a:prstGeom>
          <a:noFill/>
          <a:ln/>
        </p:spPr>
        <p:txBody>
          <a:bodyPr wrap="square" lIns="0" tIns="0" rIns="0" bIns="0" rtlCol="0" anchor="t">
            <a:spAutoFit/>
          </a:bodyPr>
          <a:lstStyle/>
          <a:p>
            <a:pPr indent="0" marL="0">
              <a:lnSpc>
                <a:spcPct val="108000"/>
              </a:lnSpc>
              <a:buNone/>
            </a:pPr>
            <a:r>
              <a:rPr lang="en-US" sz="1600" dirty="0">
                <a:solidFill>
                  <a:srgbClr val="AAB7C8"/>
                </a:solidFill>
                <a:latin typeface="DejaVu Sans" pitchFamily="34" charset="0"/>
                <a:ea typeface="DejaVu Sans" pitchFamily="34" charset="-122"/>
                <a:cs typeface="DejaVu Sans" pitchFamily="34" charset="-120"/>
              </a:rPr>
              <a:t>Initial use case: cross-organization measurement reporting</a:t>
            </a:r>
            <a:endParaRPr lang="en-US" sz="1600" dirty="0"/>
          </a:p>
        </p:txBody>
      </p:sp>
      <p:sp>
        <p:nvSpPr>
          <p:cNvPr id="18" name="Shape 16"/>
          <p:cNvSpPr/>
          <p:nvPr/>
        </p:nvSpPr>
        <p:spPr>
          <a:xfrm>
            <a:off x="457200" y="6540500"/>
            <a:ext cx="11277600" cy="6350"/>
          </a:xfrm>
          <a:prstGeom prst="rect">
            <a:avLst/>
          </a:prstGeom>
          <a:solidFill>
            <a:srgbClr val="29415C"/>
          </a:solidFill>
          <a:ln w="6350">
            <a:solidFill>
              <a:srgbClr val="29415C"/>
            </a:solidFill>
            <a:prstDash val="solid"/>
          </a:ln>
        </p:spPr>
      </p:sp>
      <p:sp>
        <p:nvSpPr>
          <p:cNvPr id="19" name="Text 17"/>
          <p:cNvSpPr/>
          <p:nvPr/>
        </p:nvSpPr>
        <p:spPr>
          <a:xfrm>
            <a:off x="457200" y="6604000"/>
            <a:ext cx="92075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F6821F"/>
                </a:solidFill>
                <a:latin typeface="DejaVu Sans" pitchFamily="34" charset="0"/>
                <a:ea typeface="DejaVu Sans" pitchFamily="34" charset="-122"/>
                <a:cs typeface="DejaVu Sans" pitchFamily="34" charset="-120"/>
              </a:rPr>
              <a:t>EDIT PREVIEW · NEW GUI RECORDING PENDING</a:t>
            </a:r>
            <a:endParaRPr lang="en-US" sz="900" dirty="0"/>
          </a:p>
        </p:txBody>
      </p:sp>
      <p:sp>
        <p:nvSpPr>
          <p:cNvPr id="20" name="Text 18"/>
          <p:cNvSpPr/>
          <p:nvPr/>
        </p:nvSpPr>
        <p:spPr>
          <a:xfrm>
            <a:off x="10858500" y="6604000"/>
            <a:ext cx="8763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AAB7C8"/>
                </a:solidFill>
                <a:latin typeface="DejaVu Sans" pitchFamily="34" charset="0"/>
                <a:ea typeface="DejaVu Sans" pitchFamily="34" charset="-122"/>
                <a:cs typeface="DejaVu Sans" pitchFamily="34" charset="-120"/>
              </a:rPr>
              <a:t>02 / 11</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6111F"/>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solidFill>
            <a:srgbClr val="38D6E8"/>
          </a:solidFill>
          <a:ln w="6350">
            <a:solidFill>
              <a:srgbClr val="38D6E8"/>
            </a:solidFill>
            <a:prstDash val="solid"/>
          </a:ln>
        </p:spPr>
      </p:sp>
      <p:sp>
        <p:nvSpPr>
          <p:cNvPr id="3" name="Text 1"/>
          <p:cNvSpPr/>
          <p:nvPr/>
        </p:nvSpPr>
        <p:spPr>
          <a:xfrm>
            <a:off x="457200" y="330200"/>
            <a:ext cx="11277600" cy="236220"/>
          </a:xfrm>
          <a:prstGeom prst="rect">
            <a:avLst/>
          </a:prstGeom>
          <a:noFill/>
          <a:ln/>
        </p:spPr>
        <p:txBody>
          <a:bodyPr wrap="square" lIns="0" tIns="0" rIns="0" bIns="0" rtlCol="0" anchor="t">
            <a:spAutoFit/>
          </a:bodyPr>
          <a:lstStyle/>
          <a:p>
            <a:pPr indent="0" marL="0">
              <a:lnSpc>
                <a:spcPct val="108000"/>
              </a:lnSpc>
              <a:buNone/>
            </a:pPr>
            <a:r>
              <a:rPr lang="en-US" sz="1200" b="1" dirty="0">
                <a:solidFill>
                  <a:srgbClr val="38D6E8"/>
                </a:solidFill>
                <a:latin typeface="DejaVu Sans" pitchFamily="34" charset="0"/>
                <a:ea typeface="DejaVu Sans" pitchFamily="34" charset="-122"/>
                <a:cs typeface="DejaVu Sans" pitchFamily="34" charset="-120"/>
              </a:rPr>
              <a:t>01 / REGISTERED PROOF SUBJECT</a:t>
            </a:r>
            <a:endParaRPr lang="en-US" sz="1200" dirty="0"/>
          </a:p>
        </p:txBody>
      </p:sp>
      <p:sp>
        <p:nvSpPr>
          <p:cNvPr id="4" name="Text 2"/>
          <p:cNvSpPr/>
          <p:nvPr/>
        </p:nvSpPr>
        <p:spPr>
          <a:xfrm>
            <a:off x="457200" y="685800"/>
            <a:ext cx="11277600" cy="570865"/>
          </a:xfrm>
          <a:prstGeom prst="rect">
            <a:avLst/>
          </a:prstGeom>
          <a:noFill/>
          <a:ln/>
        </p:spPr>
        <p:txBody>
          <a:bodyPr wrap="square" lIns="0" tIns="0" rIns="0" bIns="0" rtlCol="0" anchor="t">
            <a:spAutoFit/>
          </a:bodyPr>
          <a:lstStyle/>
          <a:p>
            <a:pPr indent="0" marL="0">
              <a:lnSpc>
                <a:spcPct val="108000"/>
              </a:lnSpc>
              <a:buNone/>
            </a:pPr>
            <a:r>
              <a:rPr lang="en-US" sz="2900" b="1" dirty="0">
                <a:solidFill>
                  <a:srgbClr val="F5F7FB"/>
                </a:solidFill>
                <a:latin typeface="DejaVu Sans" pitchFamily="34" charset="0"/>
                <a:ea typeface="DejaVu Sans" pitchFamily="34" charset="-122"/>
                <a:cs typeface="DejaVu Sans" pitchFamily="34" charset="-120"/>
              </a:rPr>
              <a:t>Bind the Device and policy first</a:t>
            </a:r>
            <a:endParaRPr lang="en-US" sz="2900" dirty="0"/>
          </a:p>
        </p:txBody>
      </p:sp>
      <p:sp>
        <p:nvSpPr>
          <p:cNvPr id="5" name="Shape 3"/>
          <p:cNvSpPr/>
          <p:nvPr/>
        </p:nvSpPr>
        <p:spPr>
          <a:xfrm>
            <a:off x="457200" y="1524000"/>
            <a:ext cx="8382000" cy="4064000"/>
          </a:xfrm>
          <a:prstGeom prst="roundRect">
            <a:avLst>
              <a:gd name="adj" fmla="val 1875"/>
            </a:avLst>
          </a:prstGeom>
          <a:solidFill>
            <a:srgbClr val="0D1B2B"/>
          </a:solidFill>
          <a:ln w="6350">
            <a:solidFill>
              <a:srgbClr val="29415C"/>
            </a:solidFill>
            <a:prstDash val="solid"/>
          </a:ln>
        </p:spPr>
      </p:sp>
      <p:sp>
        <p:nvSpPr>
          <p:cNvPr id="6" name="Text 4"/>
          <p:cNvSpPr/>
          <p:nvPr/>
        </p:nvSpPr>
        <p:spPr>
          <a:xfrm>
            <a:off x="800100" y="1905000"/>
            <a:ext cx="7302500" cy="984250"/>
          </a:xfrm>
          <a:prstGeom prst="rect">
            <a:avLst/>
          </a:prstGeom>
          <a:noFill/>
          <a:ln/>
        </p:spPr>
        <p:txBody>
          <a:bodyPr wrap="square" lIns="0" tIns="0" rIns="0" bIns="0" rtlCol="0" anchor="t">
            <a:spAutoFit/>
          </a:bodyPr>
          <a:lstStyle/>
          <a:p>
            <a:pPr indent="0" marL="0">
              <a:lnSpc>
                <a:spcPct val="108000"/>
              </a:lnSpc>
              <a:buNone/>
            </a:pPr>
            <a:r>
              <a:rPr lang="en-US" sz="5000" b="1" dirty="0">
                <a:solidFill>
                  <a:srgbClr val="38D6E8"/>
                </a:solidFill>
                <a:latin typeface="DejaVu Sans" pitchFamily="34" charset="0"/>
                <a:ea typeface="DejaVu Sans" pitchFamily="34" charset="-122"/>
                <a:cs typeface="DejaVu Sans" pitchFamily="34" charset="-120"/>
              </a:rPr>
              <a:t>G01</a:t>
            </a:r>
            <a:endParaRPr lang="en-US" sz="5000" dirty="0"/>
          </a:p>
        </p:txBody>
      </p:sp>
      <p:sp>
        <p:nvSpPr>
          <p:cNvPr id="7" name="Text 5"/>
          <p:cNvSpPr/>
          <p:nvPr/>
        </p:nvSpPr>
        <p:spPr>
          <a:xfrm>
            <a:off x="800100" y="3009900"/>
            <a:ext cx="7302500" cy="511810"/>
          </a:xfrm>
          <a:prstGeom prst="rect">
            <a:avLst/>
          </a:prstGeom>
          <a:noFill/>
          <a:ln/>
        </p:spPr>
        <p:txBody>
          <a:bodyPr wrap="square" lIns="0" tIns="0" rIns="0" bIns="0" rtlCol="0" anchor="t">
            <a:spAutoFit/>
          </a:bodyPr>
          <a:lstStyle/>
          <a:p>
            <a:pPr indent="0" marL="0">
              <a:lnSpc>
                <a:spcPct val="108000"/>
              </a:lnSpc>
              <a:buNone/>
            </a:pPr>
            <a:r>
              <a:rPr lang="en-US" sz="2600" b="1" dirty="0">
                <a:solidFill>
                  <a:srgbClr val="F5F7FB"/>
                </a:solidFill>
                <a:latin typeface="DejaVu Sans" pitchFamily="34" charset="0"/>
                <a:ea typeface="DejaVu Sans" pitchFamily="34" charset="-122"/>
                <a:cs typeface="DejaVu Sans" pitchFamily="34" charset="-120"/>
              </a:rPr>
              <a:t>New GUI recording pending</a:t>
            </a:r>
            <a:endParaRPr lang="en-US" sz="2600" dirty="0"/>
          </a:p>
        </p:txBody>
      </p:sp>
      <p:sp>
        <p:nvSpPr>
          <p:cNvPr id="8" name="Text 6"/>
          <p:cNvSpPr/>
          <p:nvPr/>
        </p:nvSpPr>
        <p:spPr>
          <a:xfrm>
            <a:off x="800100" y="3898900"/>
            <a:ext cx="7302500" cy="314960"/>
          </a:xfrm>
          <a:prstGeom prst="rect">
            <a:avLst/>
          </a:prstGeom>
          <a:noFill/>
          <a:ln/>
        </p:spPr>
        <p:txBody>
          <a:bodyPr wrap="square" lIns="0" tIns="0" rIns="0" bIns="0" rtlCol="0" anchor="t">
            <a:spAutoFit/>
          </a:bodyPr>
          <a:lstStyle/>
          <a:p>
            <a:pPr indent="0" marL="0">
              <a:lnSpc>
                <a:spcPct val="108000"/>
              </a:lnSpc>
              <a:buNone/>
            </a:pPr>
            <a:r>
              <a:rPr lang="en-US" sz="1600" dirty="0">
                <a:solidFill>
                  <a:srgbClr val="AAB7C8"/>
                </a:solidFill>
                <a:latin typeface="DejaVu Sans" pitchFamily="34" charset="0"/>
                <a:ea typeface="DejaVu Sans" pitchFamily="34" charset="-122"/>
                <a:cs typeface="DejaVu Sans" pitchFamily="34" charset="-120"/>
              </a:rPr>
              <a:t>Capture: Device Workflow → registered Device and applied policy</a:t>
            </a:r>
            <a:endParaRPr lang="en-US" sz="1600" dirty="0"/>
          </a:p>
        </p:txBody>
      </p:sp>
      <p:sp>
        <p:nvSpPr>
          <p:cNvPr id="9" name="Text 7"/>
          <p:cNvSpPr/>
          <p:nvPr/>
        </p:nvSpPr>
        <p:spPr>
          <a:xfrm>
            <a:off x="800100" y="5111750"/>
            <a:ext cx="7302500" cy="226378"/>
          </a:xfrm>
          <a:prstGeom prst="rect">
            <a:avLst/>
          </a:prstGeom>
          <a:noFill/>
          <a:ln/>
        </p:spPr>
        <p:txBody>
          <a:bodyPr wrap="square" lIns="0" tIns="0" rIns="0" bIns="0" rtlCol="0" anchor="t">
            <a:spAutoFit/>
          </a:bodyPr>
          <a:lstStyle/>
          <a:p>
            <a:pPr indent="0" marL="0">
              <a:lnSpc>
                <a:spcPct val="108000"/>
              </a:lnSpc>
              <a:buNone/>
            </a:pPr>
            <a:r>
              <a:rPr lang="en-US" sz="1150" dirty="0">
                <a:solidFill>
                  <a:srgbClr val="F6821F"/>
                </a:solidFill>
                <a:latin typeface="DejaVu Sans" pitchFamily="34" charset="0"/>
                <a:ea typeface="DejaVu Sans" pitchFamily="34" charset="-122"/>
                <a:cs typeface="DejaVu Sans" pitchFamily="34" charset="-120"/>
              </a:rPr>
              <a:t>Shot placeholder. No recorded action or result is shown.</a:t>
            </a:r>
            <a:endParaRPr lang="en-US" sz="1150" dirty="0"/>
          </a:p>
        </p:txBody>
      </p:sp>
      <p:sp>
        <p:nvSpPr>
          <p:cNvPr id="10" name="Text 8"/>
          <p:cNvSpPr/>
          <p:nvPr/>
        </p:nvSpPr>
        <p:spPr>
          <a:xfrm>
            <a:off x="9207500" y="167640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38D6E8"/>
                </a:solidFill>
                <a:latin typeface="DejaVu Sans" pitchFamily="34" charset="0"/>
                <a:ea typeface="DejaVu Sans" pitchFamily="34" charset="-122"/>
                <a:cs typeface="DejaVu Sans" pitchFamily="34" charset="-120"/>
              </a:rPr>
              <a:t>Device</a:t>
            </a:r>
            <a:endParaRPr lang="en-US" sz="1600" dirty="0"/>
          </a:p>
        </p:txBody>
      </p:sp>
      <p:sp>
        <p:nvSpPr>
          <p:cNvPr id="11" name="Text 9"/>
          <p:cNvSpPr/>
          <p:nvPr/>
        </p:nvSpPr>
        <p:spPr>
          <a:xfrm>
            <a:off x="9207500" y="2019300"/>
            <a:ext cx="2527300" cy="285433"/>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Registered identity</a:t>
            </a:r>
            <a:endParaRPr lang="en-US" sz="1450" dirty="0"/>
          </a:p>
        </p:txBody>
      </p:sp>
      <p:sp>
        <p:nvSpPr>
          <p:cNvPr id="12" name="Text 10"/>
          <p:cNvSpPr/>
          <p:nvPr/>
        </p:nvSpPr>
        <p:spPr>
          <a:xfrm>
            <a:off x="9207500" y="291465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A66CFF"/>
                </a:solidFill>
                <a:latin typeface="DejaVu Sans" pitchFamily="34" charset="0"/>
                <a:ea typeface="DejaVu Sans" pitchFamily="34" charset="-122"/>
                <a:cs typeface="DejaVu Sans" pitchFamily="34" charset="-120"/>
              </a:rPr>
              <a:t>Policy</a:t>
            </a:r>
            <a:endParaRPr lang="en-US" sz="1600" dirty="0"/>
          </a:p>
        </p:txBody>
      </p:sp>
      <p:sp>
        <p:nvSpPr>
          <p:cNvPr id="13" name="Text 11"/>
          <p:cNvSpPr/>
          <p:nvPr/>
        </p:nvSpPr>
        <p:spPr>
          <a:xfrm>
            <a:off x="9207500" y="3257550"/>
            <a:ext cx="2527300" cy="285433"/>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Public bounds and validity</a:t>
            </a:r>
            <a:endParaRPr lang="en-US" sz="1450" dirty="0"/>
          </a:p>
        </p:txBody>
      </p:sp>
      <p:sp>
        <p:nvSpPr>
          <p:cNvPr id="14" name="Text 12"/>
          <p:cNvSpPr/>
          <p:nvPr/>
        </p:nvSpPr>
        <p:spPr>
          <a:xfrm>
            <a:off x="9207500" y="415290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79D66A"/>
                </a:solidFill>
                <a:latin typeface="DejaVu Sans" pitchFamily="34" charset="0"/>
                <a:ea typeface="DejaVu Sans" pitchFamily="34" charset="-122"/>
                <a:cs typeface="DejaVu Sans" pitchFamily="34" charset="-120"/>
              </a:rPr>
              <a:t>Authority</a:t>
            </a:r>
            <a:endParaRPr lang="en-US" sz="1600" dirty="0"/>
          </a:p>
        </p:txBody>
      </p:sp>
      <p:sp>
        <p:nvSpPr>
          <p:cNvPr id="15" name="Text 13"/>
          <p:cNvSpPr/>
          <p:nvPr/>
        </p:nvSpPr>
        <p:spPr>
          <a:xfrm>
            <a:off x="9207500" y="4495800"/>
            <a:ext cx="2527300" cy="285433"/>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Controlled by the Device</a:t>
            </a:r>
            <a:endParaRPr lang="en-US" sz="1450" dirty="0"/>
          </a:p>
        </p:txBody>
      </p:sp>
      <p:sp>
        <p:nvSpPr>
          <p:cNvPr id="16" name="Text 14"/>
          <p:cNvSpPr/>
          <p:nvPr/>
        </p:nvSpPr>
        <p:spPr>
          <a:xfrm>
            <a:off x="457200" y="5670550"/>
            <a:ext cx="11277600" cy="216535"/>
          </a:xfrm>
          <a:prstGeom prst="rect">
            <a:avLst/>
          </a:prstGeom>
          <a:noFill/>
          <a:ln/>
        </p:spPr>
        <p:txBody>
          <a:bodyPr wrap="square" lIns="0" tIns="0" rIns="0" bIns="0" rtlCol="0" anchor="t">
            <a:spAutoFit/>
          </a:bodyPr>
          <a:lstStyle/>
          <a:p>
            <a:pPr indent="0" marL="0">
              <a:lnSpc>
                <a:spcPct val="108000"/>
              </a:lnSpc>
              <a:buNone/>
            </a:pPr>
            <a:r>
              <a:rPr lang="en-US" sz="1100" dirty="0">
                <a:solidFill>
                  <a:srgbClr val="AAB7C8"/>
                </a:solidFill>
                <a:latin typeface="DejaVu Sans" pitchFamily="34" charset="0"/>
                <a:ea typeface="DejaVu Sans" pitchFamily="34" charset="-122"/>
                <a:cs typeface="DejaVu Sans" pitchFamily="34" charset="-120"/>
              </a:rPr>
              <a:t>Controlled browser demo · synthetic measurements</a:t>
            </a:r>
            <a:endParaRPr lang="en-US" sz="1100" dirty="0"/>
          </a:p>
        </p:txBody>
      </p:sp>
      <p:sp>
        <p:nvSpPr>
          <p:cNvPr id="17" name="Shape 15"/>
          <p:cNvSpPr/>
          <p:nvPr/>
        </p:nvSpPr>
        <p:spPr>
          <a:xfrm>
            <a:off x="457200" y="6540500"/>
            <a:ext cx="11277600" cy="6350"/>
          </a:xfrm>
          <a:prstGeom prst="rect">
            <a:avLst/>
          </a:prstGeom>
          <a:solidFill>
            <a:srgbClr val="29415C"/>
          </a:solidFill>
          <a:ln w="6350">
            <a:solidFill>
              <a:srgbClr val="29415C"/>
            </a:solidFill>
            <a:prstDash val="solid"/>
          </a:ln>
        </p:spPr>
      </p:sp>
      <p:sp>
        <p:nvSpPr>
          <p:cNvPr id="18" name="Text 16"/>
          <p:cNvSpPr/>
          <p:nvPr/>
        </p:nvSpPr>
        <p:spPr>
          <a:xfrm>
            <a:off x="457200" y="6604000"/>
            <a:ext cx="92075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F6821F"/>
                </a:solidFill>
                <a:latin typeface="DejaVu Sans" pitchFamily="34" charset="0"/>
                <a:ea typeface="DejaVu Sans" pitchFamily="34" charset="-122"/>
                <a:cs typeface="DejaVu Sans" pitchFamily="34" charset="-120"/>
              </a:rPr>
              <a:t>EDIT PREVIEW · NEW GUI RECORDING PENDING</a:t>
            </a:r>
            <a:endParaRPr lang="en-US" sz="900" dirty="0"/>
          </a:p>
        </p:txBody>
      </p:sp>
      <p:sp>
        <p:nvSpPr>
          <p:cNvPr id="19" name="Text 17"/>
          <p:cNvSpPr/>
          <p:nvPr/>
        </p:nvSpPr>
        <p:spPr>
          <a:xfrm>
            <a:off x="10858500" y="6604000"/>
            <a:ext cx="8763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AAB7C8"/>
                </a:solidFill>
                <a:latin typeface="DejaVu Sans" pitchFamily="34" charset="0"/>
                <a:ea typeface="DejaVu Sans" pitchFamily="34" charset="-122"/>
                <a:cs typeface="DejaVu Sans" pitchFamily="34" charset="-120"/>
              </a:rPr>
              <a:t>03 / 11</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6111F"/>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solidFill>
            <a:srgbClr val="38D6E8"/>
          </a:solidFill>
          <a:ln w="6350">
            <a:solidFill>
              <a:srgbClr val="38D6E8"/>
            </a:solidFill>
            <a:prstDash val="solid"/>
          </a:ln>
        </p:spPr>
      </p:sp>
      <p:sp>
        <p:nvSpPr>
          <p:cNvPr id="3" name="Text 1"/>
          <p:cNvSpPr/>
          <p:nvPr/>
        </p:nvSpPr>
        <p:spPr>
          <a:xfrm>
            <a:off x="457200" y="330200"/>
            <a:ext cx="11277600" cy="236220"/>
          </a:xfrm>
          <a:prstGeom prst="rect">
            <a:avLst/>
          </a:prstGeom>
          <a:noFill/>
          <a:ln/>
        </p:spPr>
        <p:txBody>
          <a:bodyPr wrap="square" lIns="0" tIns="0" rIns="0" bIns="0" rtlCol="0" anchor="t">
            <a:spAutoFit/>
          </a:bodyPr>
          <a:lstStyle/>
          <a:p>
            <a:pPr indent="0" marL="0">
              <a:lnSpc>
                <a:spcPct val="108000"/>
              </a:lnSpc>
              <a:buNone/>
            </a:pPr>
            <a:r>
              <a:rPr lang="en-US" sz="1200" b="1" dirty="0">
                <a:solidFill>
                  <a:srgbClr val="38D6E8"/>
                </a:solidFill>
                <a:latin typeface="DejaVu Sans" pitchFamily="34" charset="0"/>
                <a:ea typeface="DejaVu Sans" pitchFamily="34" charset="-122"/>
                <a:cs typeface="DejaVu Sans" pitchFamily="34" charset="-120"/>
              </a:rPr>
              <a:t>02 / PRIVATE DAILY EVIDENCE</a:t>
            </a:r>
            <a:endParaRPr lang="en-US" sz="1200" dirty="0"/>
          </a:p>
        </p:txBody>
      </p:sp>
      <p:sp>
        <p:nvSpPr>
          <p:cNvPr id="4" name="Text 2"/>
          <p:cNvSpPr/>
          <p:nvPr/>
        </p:nvSpPr>
        <p:spPr>
          <a:xfrm>
            <a:off x="457200" y="685800"/>
            <a:ext cx="11277600" cy="570865"/>
          </a:xfrm>
          <a:prstGeom prst="rect">
            <a:avLst/>
          </a:prstGeom>
          <a:noFill/>
          <a:ln/>
        </p:spPr>
        <p:txBody>
          <a:bodyPr wrap="square" lIns="0" tIns="0" rIns="0" bIns="0" rtlCol="0" anchor="t">
            <a:spAutoFit/>
          </a:bodyPr>
          <a:lstStyle/>
          <a:p>
            <a:pPr indent="0" marL="0">
              <a:lnSpc>
                <a:spcPct val="108000"/>
              </a:lnSpc>
              <a:buNone/>
            </a:pPr>
            <a:r>
              <a:rPr lang="en-US" sz="2900" b="1" dirty="0">
                <a:solidFill>
                  <a:srgbClr val="F5F7FB"/>
                </a:solidFill>
                <a:latin typeface="DejaVu Sans" pitchFamily="34" charset="0"/>
                <a:ea typeface="DejaVu Sans" pitchFamily="34" charset="-122"/>
                <a:cs typeface="DejaVu Sans" pitchFamily="34" charset="-120"/>
              </a:rPr>
              <a:t>One day. Twenty-four hourly slots.</a:t>
            </a:r>
            <a:endParaRPr lang="en-US" sz="2900" dirty="0"/>
          </a:p>
        </p:txBody>
      </p:sp>
      <p:sp>
        <p:nvSpPr>
          <p:cNvPr id="5" name="Shape 3"/>
          <p:cNvSpPr/>
          <p:nvPr/>
        </p:nvSpPr>
        <p:spPr>
          <a:xfrm>
            <a:off x="457200" y="1524000"/>
            <a:ext cx="8382000" cy="4064000"/>
          </a:xfrm>
          <a:prstGeom prst="roundRect">
            <a:avLst>
              <a:gd name="adj" fmla="val 1875"/>
            </a:avLst>
          </a:prstGeom>
          <a:solidFill>
            <a:srgbClr val="0D1B2B"/>
          </a:solidFill>
          <a:ln w="6350">
            <a:solidFill>
              <a:srgbClr val="29415C"/>
            </a:solidFill>
            <a:prstDash val="solid"/>
          </a:ln>
        </p:spPr>
      </p:sp>
      <p:sp>
        <p:nvSpPr>
          <p:cNvPr id="6" name="Text 4"/>
          <p:cNvSpPr/>
          <p:nvPr/>
        </p:nvSpPr>
        <p:spPr>
          <a:xfrm>
            <a:off x="800100" y="1905000"/>
            <a:ext cx="7302500" cy="984250"/>
          </a:xfrm>
          <a:prstGeom prst="rect">
            <a:avLst/>
          </a:prstGeom>
          <a:noFill/>
          <a:ln/>
        </p:spPr>
        <p:txBody>
          <a:bodyPr wrap="square" lIns="0" tIns="0" rIns="0" bIns="0" rtlCol="0" anchor="t">
            <a:spAutoFit/>
          </a:bodyPr>
          <a:lstStyle/>
          <a:p>
            <a:pPr indent="0" marL="0">
              <a:lnSpc>
                <a:spcPct val="108000"/>
              </a:lnSpc>
              <a:buNone/>
            </a:pPr>
            <a:r>
              <a:rPr lang="en-US" sz="5000" b="1" dirty="0">
                <a:solidFill>
                  <a:srgbClr val="38D6E8"/>
                </a:solidFill>
                <a:latin typeface="DejaVu Sans" pitchFamily="34" charset="0"/>
                <a:ea typeface="DejaVu Sans" pitchFamily="34" charset="-122"/>
                <a:cs typeface="DejaVu Sans" pitchFamily="34" charset="-120"/>
              </a:rPr>
              <a:t>G02</a:t>
            </a:r>
            <a:endParaRPr lang="en-US" sz="5000" dirty="0"/>
          </a:p>
        </p:txBody>
      </p:sp>
      <p:sp>
        <p:nvSpPr>
          <p:cNvPr id="7" name="Text 5"/>
          <p:cNvSpPr/>
          <p:nvPr/>
        </p:nvSpPr>
        <p:spPr>
          <a:xfrm>
            <a:off x="800100" y="3009900"/>
            <a:ext cx="7302500" cy="511810"/>
          </a:xfrm>
          <a:prstGeom prst="rect">
            <a:avLst/>
          </a:prstGeom>
          <a:noFill/>
          <a:ln/>
        </p:spPr>
        <p:txBody>
          <a:bodyPr wrap="square" lIns="0" tIns="0" rIns="0" bIns="0" rtlCol="0" anchor="t">
            <a:spAutoFit/>
          </a:bodyPr>
          <a:lstStyle/>
          <a:p>
            <a:pPr indent="0" marL="0">
              <a:lnSpc>
                <a:spcPct val="108000"/>
              </a:lnSpc>
              <a:buNone/>
            </a:pPr>
            <a:r>
              <a:rPr lang="en-US" sz="2600" b="1" dirty="0">
                <a:solidFill>
                  <a:srgbClr val="F5F7FB"/>
                </a:solidFill>
                <a:latin typeface="DejaVu Sans" pitchFamily="34" charset="0"/>
                <a:ea typeface="DejaVu Sans" pitchFamily="34" charset="-122"/>
                <a:cs typeface="DejaVu Sans" pitchFamily="34" charset="-120"/>
              </a:rPr>
              <a:t>New GUI recording pending</a:t>
            </a:r>
            <a:endParaRPr lang="en-US" sz="2600" dirty="0"/>
          </a:p>
        </p:txBody>
      </p:sp>
      <p:sp>
        <p:nvSpPr>
          <p:cNvPr id="8" name="Text 6"/>
          <p:cNvSpPr/>
          <p:nvPr/>
        </p:nvSpPr>
        <p:spPr>
          <a:xfrm>
            <a:off x="800100" y="3898900"/>
            <a:ext cx="7302500" cy="314960"/>
          </a:xfrm>
          <a:prstGeom prst="rect">
            <a:avLst/>
          </a:prstGeom>
          <a:noFill/>
          <a:ln/>
        </p:spPr>
        <p:txBody>
          <a:bodyPr wrap="square" lIns="0" tIns="0" rIns="0" bIns="0" rtlCol="0" anchor="t">
            <a:spAutoFit/>
          </a:bodyPr>
          <a:lstStyle/>
          <a:p>
            <a:pPr indent="0" marL="0">
              <a:lnSpc>
                <a:spcPct val="108000"/>
              </a:lnSpc>
              <a:buNone/>
            </a:pPr>
            <a:r>
              <a:rPr lang="en-US" sz="1600" dirty="0">
                <a:solidFill>
                  <a:srgbClr val="AAB7C8"/>
                </a:solidFill>
                <a:latin typeface="DejaVu Sans" pitchFamily="34" charset="0"/>
                <a:ea typeface="DejaVu Sans" pitchFamily="34" charset="-122"/>
                <a:cs typeface="DejaVu Sans" pitchFamily="34" charset="-120"/>
              </a:rPr>
              <a:t>Capture: selected date, record count, and private-input availability</a:t>
            </a:r>
            <a:endParaRPr lang="en-US" sz="1600" dirty="0"/>
          </a:p>
        </p:txBody>
      </p:sp>
      <p:sp>
        <p:nvSpPr>
          <p:cNvPr id="9" name="Text 7"/>
          <p:cNvSpPr/>
          <p:nvPr/>
        </p:nvSpPr>
        <p:spPr>
          <a:xfrm>
            <a:off x="800100" y="5111750"/>
            <a:ext cx="7302500" cy="226378"/>
          </a:xfrm>
          <a:prstGeom prst="rect">
            <a:avLst/>
          </a:prstGeom>
          <a:noFill/>
          <a:ln/>
        </p:spPr>
        <p:txBody>
          <a:bodyPr wrap="square" lIns="0" tIns="0" rIns="0" bIns="0" rtlCol="0" anchor="t">
            <a:spAutoFit/>
          </a:bodyPr>
          <a:lstStyle/>
          <a:p>
            <a:pPr indent="0" marL="0">
              <a:lnSpc>
                <a:spcPct val="108000"/>
              </a:lnSpc>
              <a:buNone/>
            </a:pPr>
            <a:r>
              <a:rPr lang="en-US" sz="1150" dirty="0">
                <a:solidFill>
                  <a:srgbClr val="F6821F"/>
                </a:solidFill>
                <a:latin typeface="DejaVu Sans" pitchFamily="34" charset="0"/>
                <a:ea typeface="DejaVu Sans" pitchFamily="34" charset="-122"/>
                <a:cs typeface="DejaVu Sans" pitchFamily="34" charset="-120"/>
              </a:rPr>
              <a:t>Shot placeholder. No recorded action or result is shown.</a:t>
            </a:r>
            <a:endParaRPr lang="en-US" sz="1150" dirty="0"/>
          </a:p>
        </p:txBody>
      </p:sp>
      <p:sp>
        <p:nvSpPr>
          <p:cNvPr id="10" name="Text 8"/>
          <p:cNvSpPr/>
          <p:nvPr/>
        </p:nvSpPr>
        <p:spPr>
          <a:xfrm>
            <a:off x="9207500" y="167640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38D6E8"/>
                </a:solidFill>
                <a:latin typeface="DejaVu Sans" pitchFamily="34" charset="0"/>
                <a:ea typeface="DejaVu Sans" pitchFamily="34" charset="-122"/>
                <a:cs typeface="DejaVu Sans" pitchFamily="34" charset="-120"/>
              </a:rPr>
              <a:t>Select</a:t>
            </a:r>
            <a:endParaRPr lang="en-US" sz="1600" dirty="0"/>
          </a:p>
        </p:txBody>
      </p:sp>
      <p:sp>
        <p:nvSpPr>
          <p:cNvPr id="11" name="Text 9"/>
          <p:cNvSpPr/>
          <p:nvPr/>
        </p:nvSpPr>
        <p:spPr>
          <a:xfrm>
            <a:off x="9207500" y="2019300"/>
            <a:ext cx="2527300" cy="524828"/>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A completed operational</a:t>
            </a:r>
            <a:endParaRPr lang="en-US" sz="1450" dirty="0"/>
          </a:p>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day</a:t>
            </a:r>
            <a:endParaRPr lang="en-US" sz="1450" dirty="0"/>
          </a:p>
        </p:txBody>
      </p:sp>
      <p:sp>
        <p:nvSpPr>
          <p:cNvPr id="12" name="Text 10"/>
          <p:cNvSpPr/>
          <p:nvPr/>
        </p:nvSpPr>
        <p:spPr>
          <a:xfrm>
            <a:off x="9207500" y="291465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A66CFF"/>
                </a:solidFill>
                <a:latin typeface="DejaVu Sans" pitchFamily="34" charset="0"/>
                <a:ea typeface="DejaVu Sans" pitchFamily="34" charset="-122"/>
                <a:cs typeface="DejaVu Sans" pitchFamily="34" charset="-120"/>
              </a:rPr>
              <a:t>Keep private</a:t>
            </a:r>
            <a:endParaRPr lang="en-US" sz="1600" dirty="0"/>
          </a:p>
        </p:txBody>
      </p:sp>
      <p:sp>
        <p:nvSpPr>
          <p:cNvPr id="13" name="Text 11"/>
          <p:cNvSpPr/>
          <p:nvPr/>
        </p:nvSpPr>
        <p:spPr>
          <a:xfrm>
            <a:off x="9207500" y="3257550"/>
            <a:ext cx="2527300" cy="524828"/>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Readings and proof</a:t>
            </a:r>
            <a:endParaRPr lang="en-US" sz="1450" dirty="0"/>
          </a:p>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opening</a:t>
            </a:r>
            <a:endParaRPr lang="en-US" sz="1450" dirty="0"/>
          </a:p>
        </p:txBody>
      </p:sp>
      <p:sp>
        <p:nvSpPr>
          <p:cNvPr id="14" name="Text 12"/>
          <p:cNvSpPr/>
          <p:nvPr/>
        </p:nvSpPr>
        <p:spPr>
          <a:xfrm>
            <a:off x="9207500" y="415290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79D66A"/>
                </a:solidFill>
                <a:latin typeface="DejaVu Sans" pitchFamily="34" charset="0"/>
                <a:ea typeface="DejaVu Sans" pitchFamily="34" charset="-122"/>
                <a:cs typeface="DejaVu Sans" pitchFamily="34" charset="-120"/>
              </a:rPr>
              <a:t>Preserve gaps</a:t>
            </a:r>
            <a:endParaRPr lang="en-US" sz="1600" dirty="0"/>
          </a:p>
        </p:txBody>
      </p:sp>
      <p:sp>
        <p:nvSpPr>
          <p:cNvPr id="15" name="Text 13"/>
          <p:cNvSpPr/>
          <p:nvPr/>
        </p:nvSpPr>
        <p:spPr>
          <a:xfrm>
            <a:off x="9207500" y="4495800"/>
            <a:ext cx="2527300" cy="524828"/>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Missing hours remain NO</a:t>
            </a:r>
            <a:endParaRPr lang="en-US" sz="1450" dirty="0"/>
          </a:p>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DATA</a:t>
            </a:r>
            <a:endParaRPr lang="en-US" sz="1450" dirty="0"/>
          </a:p>
        </p:txBody>
      </p:sp>
      <p:sp>
        <p:nvSpPr>
          <p:cNvPr id="16" name="Text 14"/>
          <p:cNvSpPr/>
          <p:nvPr/>
        </p:nvSpPr>
        <p:spPr>
          <a:xfrm>
            <a:off x="457200" y="5670550"/>
            <a:ext cx="11277600" cy="216535"/>
          </a:xfrm>
          <a:prstGeom prst="rect">
            <a:avLst/>
          </a:prstGeom>
          <a:noFill/>
          <a:ln/>
        </p:spPr>
        <p:txBody>
          <a:bodyPr wrap="square" lIns="0" tIns="0" rIns="0" bIns="0" rtlCol="0" anchor="t">
            <a:spAutoFit/>
          </a:bodyPr>
          <a:lstStyle/>
          <a:p>
            <a:pPr indent="0" marL="0">
              <a:lnSpc>
                <a:spcPct val="108000"/>
              </a:lnSpc>
              <a:buNone/>
            </a:pPr>
            <a:r>
              <a:rPr lang="en-US" sz="1100" dirty="0">
                <a:solidFill>
                  <a:srgbClr val="AAB7C8"/>
                </a:solidFill>
                <a:latin typeface="DejaVu Sans" pitchFamily="34" charset="0"/>
                <a:ea typeface="DejaVu Sans" pitchFamily="34" charset="-122"/>
                <a:cs typeface="DejaVu Sans" pitchFamily="34" charset="-120"/>
              </a:rPr>
              <a:t>Controlled browser demo · synthetic measurements</a:t>
            </a:r>
            <a:endParaRPr lang="en-US" sz="1100" dirty="0"/>
          </a:p>
        </p:txBody>
      </p:sp>
      <p:sp>
        <p:nvSpPr>
          <p:cNvPr id="17" name="Shape 15"/>
          <p:cNvSpPr/>
          <p:nvPr/>
        </p:nvSpPr>
        <p:spPr>
          <a:xfrm>
            <a:off x="457200" y="6540500"/>
            <a:ext cx="11277600" cy="6350"/>
          </a:xfrm>
          <a:prstGeom prst="rect">
            <a:avLst/>
          </a:prstGeom>
          <a:solidFill>
            <a:srgbClr val="29415C"/>
          </a:solidFill>
          <a:ln w="6350">
            <a:solidFill>
              <a:srgbClr val="29415C"/>
            </a:solidFill>
            <a:prstDash val="solid"/>
          </a:ln>
        </p:spPr>
      </p:sp>
      <p:sp>
        <p:nvSpPr>
          <p:cNvPr id="18" name="Text 16"/>
          <p:cNvSpPr/>
          <p:nvPr/>
        </p:nvSpPr>
        <p:spPr>
          <a:xfrm>
            <a:off x="457200" y="6604000"/>
            <a:ext cx="92075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F6821F"/>
                </a:solidFill>
                <a:latin typeface="DejaVu Sans" pitchFamily="34" charset="0"/>
                <a:ea typeface="DejaVu Sans" pitchFamily="34" charset="-122"/>
                <a:cs typeface="DejaVu Sans" pitchFamily="34" charset="-120"/>
              </a:rPr>
              <a:t>EDIT PREVIEW · NEW GUI RECORDING PENDING</a:t>
            </a:r>
            <a:endParaRPr lang="en-US" sz="900" dirty="0"/>
          </a:p>
        </p:txBody>
      </p:sp>
      <p:sp>
        <p:nvSpPr>
          <p:cNvPr id="19" name="Text 17"/>
          <p:cNvSpPr/>
          <p:nvPr/>
        </p:nvSpPr>
        <p:spPr>
          <a:xfrm>
            <a:off x="10858500" y="6604000"/>
            <a:ext cx="8763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AAB7C8"/>
                </a:solidFill>
                <a:latin typeface="DejaVu Sans" pitchFamily="34" charset="0"/>
                <a:ea typeface="DejaVu Sans" pitchFamily="34" charset="-122"/>
                <a:cs typeface="DejaVu Sans" pitchFamily="34" charset="-120"/>
              </a:rPr>
              <a:t>04 / 11</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6111F"/>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solidFill>
            <a:srgbClr val="38D6E8"/>
          </a:solidFill>
          <a:ln w="6350">
            <a:solidFill>
              <a:srgbClr val="38D6E8"/>
            </a:solidFill>
            <a:prstDash val="solid"/>
          </a:ln>
        </p:spPr>
      </p:sp>
      <p:sp>
        <p:nvSpPr>
          <p:cNvPr id="3" name="Text 1"/>
          <p:cNvSpPr/>
          <p:nvPr/>
        </p:nvSpPr>
        <p:spPr>
          <a:xfrm>
            <a:off x="457200" y="330200"/>
            <a:ext cx="11277600" cy="236220"/>
          </a:xfrm>
          <a:prstGeom prst="rect">
            <a:avLst/>
          </a:prstGeom>
          <a:noFill/>
          <a:ln/>
        </p:spPr>
        <p:txBody>
          <a:bodyPr wrap="square" lIns="0" tIns="0" rIns="0" bIns="0" rtlCol="0" anchor="t">
            <a:spAutoFit/>
          </a:bodyPr>
          <a:lstStyle/>
          <a:p>
            <a:pPr indent="0" marL="0">
              <a:lnSpc>
                <a:spcPct val="108000"/>
              </a:lnSpc>
              <a:buNone/>
            </a:pPr>
            <a:r>
              <a:rPr lang="en-US" sz="1200" b="1" dirty="0">
                <a:solidFill>
                  <a:srgbClr val="38D6E8"/>
                </a:solidFill>
                <a:latin typeface="DejaVu Sans" pitchFamily="34" charset="0"/>
                <a:ea typeface="DejaVu Sans" pitchFamily="34" charset="-122"/>
                <a:cs typeface="DejaVu Sans" pitchFamily="34" charset="-120"/>
              </a:rPr>
              <a:t>03 / AUTHORIZE AND QUEUE</a:t>
            </a:r>
            <a:endParaRPr lang="en-US" sz="1200" dirty="0"/>
          </a:p>
        </p:txBody>
      </p:sp>
      <p:sp>
        <p:nvSpPr>
          <p:cNvPr id="4" name="Text 2"/>
          <p:cNvSpPr/>
          <p:nvPr/>
        </p:nvSpPr>
        <p:spPr>
          <a:xfrm>
            <a:off x="457200" y="685800"/>
            <a:ext cx="11277600" cy="570865"/>
          </a:xfrm>
          <a:prstGeom prst="rect">
            <a:avLst/>
          </a:prstGeom>
          <a:noFill/>
          <a:ln/>
        </p:spPr>
        <p:txBody>
          <a:bodyPr wrap="square" lIns="0" tIns="0" rIns="0" bIns="0" rtlCol="0" anchor="t">
            <a:spAutoFit/>
          </a:bodyPr>
          <a:lstStyle/>
          <a:p>
            <a:pPr indent="0" marL="0">
              <a:lnSpc>
                <a:spcPct val="108000"/>
              </a:lnSpc>
              <a:buNone/>
            </a:pPr>
            <a:r>
              <a:rPr lang="en-US" sz="2900" b="1" dirty="0">
                <a:solidFill>
                  <a:srgbClr val="F5F7FB"/>
                </a:solidFill>
                <a:latin typeface="DejaVu Sans" pitchFamily="34" charset="0"/>
                <a:ea typeface="DejaVu Sans" pitchFamily="34" charset="-122"/>
                <a:cs typeface="DejaVu Sans" pitchFamily="34" charset="-120"/>
              </a:rPr>
              <a:t>The Device authorizes. The service schedules.</a:t>
            </a:r>
            <a:endParaRPr lang="en-US" sz="2900" dirty="0"/>
          </a:p>
        </p:txBody>
      </p:sp>
      <p:sp>
        <p:nvSpPr>
          <p:cNvPr id="5" name="Shape 3"/>
          <p:cNvSpPr/>
          <p:nvPr/>
        </p:nvSpPr>
        <p:spPr>
          <a:xfrm>
            <a:off x="457200" y="1524000"/>
            <a:ext cx="8382000" cy="4064000"/>
          </a:xfrm>
          <a:prstGeom prst="roundRect">
            <a:avLst>
              <a:gd name="adj" fmla="val 1875"/>
            </a:avLst>
          </a:prstGeom>
          <a:solidFill>
            <a:srgbClr val="0D1B2B"/>
          </a:solidFill>
          <a:ln w="6350">
            <a:solidFill>
              <a:srgbClr val="29415C"/>
            </a:solidFill>
            <a:prstDash val="solid"/>
          </a:ln>
        </p:spPr>
      </p:sp>
      <p:sp>
        <p:nvSpPr>
          <p:cNvPr id="6" name="Text 4"/>
          <p:cNvSpPr/>
          <p:nvPr/>
        </p:nvSpPr>
        <p:spPr>
          <a:xfrm>
            <a:off x="800100" y="1905000"/>
            <a:ext cx="7302500" cy="984250"/>
          </a:xfrm>
          <a:prstGeom prst="rect">
            <a:avLst/>
          </a:prstGeom>
          <a:noFill/>
          <a:ln/>
        </p:spPr>
        <p:txBody>
          <a:bodyPr wrap="square" lIns="0" tIns="0" rIns="0" bIns="0" rtlCol="0" anchor="t">
            <a:spAutoFit/>
          </a:bodyPr>
          <a:lstStyle/>
          <a:p>
            <a:pPr indent="0" marL="0">
              <a:lnSpc>
                <a:spcPct val="108000"/>
              </a:lnSpc>
              <a:buNone/>
            </a:pPr>
            <a:r>
              <a:rPr lang="en-US" sz="5000" b="1" dirty="0">
                <a:solidFill>
                  <a:srgbClr val="38D6E8"/>
                </a:solidFill>
                <a:latin typeface="DejaVu Sans" pitchFamily="34" charset="0"/>
                <a:ea typeface="DejaVu Sans" pitchFamily="34" charset="-122"/>
                <a:cs typeface="DejaVu Sans" pitchFamily="34" charset="-120"/>
              </a:rPr>
              <a:t>G03</a:t>
            </a:r>
            <a:endParaRPr lang="en-US" sz="5000" dirty="0"/>
          </a:p>
        </p:txBody>
      </p:sp>
      <p:sp>
        <p:nvSpPr>
          <p:cNvPr id="7" name="Text 5"/>
          <p:cNvSpPr/>
          <p:nvPr/>
        </p:nvSpPr>
        <p:spPr>
          <a:xfrm>
            <a:off x="800100" y="3009900"/>
            <a:ext cx="7302500" cy="511810"/>
          </a:xfrm>
          <a:prstGeom prst="rect">
            <a:avLst/>
          </a:prstGeom>
          <a:noFill/>
          <a:ln/>
        </p:spPr>
        <p:txBody>
          <a:bodyPr wrap="square" lIns="0" tIns="0" rIns="0" bIns="0" rtlCol="0" anchor="t">
            <a:spAutoFit/>
          </a:bodyPr>
          <a:lstStyle/>
          <a:p>
            <a:pPr indent="0" marL="0">
              <a:lnSpc>
                <a:spcPct val="108000"/>
              </a:lnSpc>
              <a:buNone/>
            </a:pPr>
            <a:r>
              <a:rPr lang="en-US" sz="2600" b="1" dirty="0">
                <a:solidFill>
                  <a:srgbClr val="F5F7FB"/>
                </a:solidFill>
                <a:latin typeface="DejaVu Sans" pitchFamily="34" charset="0"/>
                <a:ea typeface="DejaVu Sans" pitchFamily="34" charset="-122"/>
                <a:cs typeface="DejaVu Sans" pitchFamily="34" charset="-120"/>
              </a:rPr>
              <a:t>New GUI recording pending</a:t>
            </a:r>
            <a:endParaRPr lang="en-US" sz="2600" dirty="0"/>
          </a:p>
        </p:txBody>
      </p:sp>
      <p:sp>
        <p:nvSpPr>
          <p:cNvPr id="8" name="Text 6"/>
          <p:cNvSpPr/>
          <p:nvPr/>
        </p:nvSpPr>
        <p:spPr>
          <a:xfrm>
            <a:off x="800100" y="3898900"/>
            <a:ext cx="7302500" cy="314960"/>
          </a:xfrm>
          <a:prstGeom prst="rect">
            <a:avLst/>
          </a:prstGeom>
          <a:noFill/>
          <a:ln/>
        </p:spPr>
        <p:txBody>
          <a:bodyPr wrap="square" lIns="0" tIns="0" rIns="0" bIns="0" rtlCol="0" anchor="t">
            <a:spAutoFit/>
          </a:bodyPr>
          <a:lstStyle/>
          <a:p>
            <a:pPr indent="0" marL="0">
              <a:lnSpc>
                <a:spcPct val="108000"/>
              </a:lnSpc>
              <a:buNone/>
            </a:pPr>
            <a:r>
              <a:rPr lang="en-US" sz="1600" dirty="0">
                <a:solidFill>
                  <a:srgbClr val="AAB7C8"/>
                </a:solidFill>
                <a:latin typeface="DejaVu Sans" pitchFamily="34" charset="0"/>
                <a:ea typeface="DejaVu Sans" pitchFamily="34" charset="-122"/>
                <a:cs typeface="DejaVu Sans" pitchFamily="34" charset="-120"/>
              </a:rPr>
              <a:t>02:00 JST starts scheduled processing; confirmation can come later</a:t>
            </a:r>
            <a:endParaRPr lang="en-US" sz="1600" dirty="0"/>
          </a:p>
        </p:txBody>
      </p:sp>
      <p:sp>
        <p:nvSpPr>
          <p:cNvPr id="9" name="Text 7"/>
          <p:cNvSpPr/>
          <p:nvPr/>
        </p:nvSpPr>
        <p:spPr>
          <a:xfrm>
            <a:off x="800100" y="5111750"/>
            <a:ext cx="7302500" cy="226378"/>
          </a:xfrm>
          <a:prstGeom prst="rect">
            <a:avLst/>
          </a:prstGeom>
          <a:noFill/>
          <a:ln/>
        </p:spPr>
        <p:txBody>
          <a:bodyPr wrap="square" lIns="0" tIns="0" rIns="0" bIns="0" rtlCol="0" anchor="t">
            <a:spAutoFit/>
          </a:bodyPr>
          <a:lstStyle/>
          <a:p>
            <a:pPr indent="0" marL="0">
              <a:lnSpc>
                <a:spcPct val="108000"/>
              </a:lnSpc>
              <a:buNone/>
            </a:pPr>
            <a:r>
              <a:rPr lang="en-US" sz="1150" dirty="0">
                <a:solidFill>
                  <a:srgbClr val="F6821F"/>
                </a:solidFill>
                <a:latin typeface="DejaVu Sans" pitchFamily="34" charset="0"/>
                <a:ea typeface="DejaVu Sans" pitchFamily="34" charset="-122"/>
                <a:cs typeface="DejaVu Sans" pitchFamily="34" charset="-120"/>
              </a:rPr>
              <a:t>Shot placeholder. No recorded action or result is shown.</a:t>
            </a:r>
            <a:endParaRPr lang="en-US" sz="1150" dirty="0"/>
          </a:p>
        </p:txBody>
      </p:sp>
      <p:sp>
        <p:nvSpPr>
          <p:cNvPr id="10" name="Text 8"/>
          <p:cNvSpPr/>
          <p:nvPr/>
        </p:nvSpPr>
        <p:spPr>
          <a:xfrm>
            <a:off x="9207500" y="167640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38D6E8"/>
                </a:solidFill>
                <a:latin typeface="DejaVu Sans" pitchFamily="34" charset="0"/>
                <a:ea typeface="DejaVu Sans" pitchFamily="34" charset="-122"/>
                <a:cs typeface="DejaVu Sans" pitchFamily="34" charset="-120"/>
              </a:rPr>
              <a:t>Authorize</a:t>
            </a:r>
            <a:endParaRPr lang="en-US" sz="1600" dirty="0"/>
          </a:p>
        </p:txBody>
      </p:sp>
      <p:sp>
        <p:nvSpPr>
          <p:cNvPr id="11" name="Text 9"/>
          <p:cNvSpPr/>
          <p:nvPr/>
        </p:nvSpPr>
        <p:spPr>
          <a:xfrm>
            <a:off x="9207500" y="2019300"/>
            <a:ext cx="2527300" cy="524828"/>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Approve the Device</a:t>
            </a:r>
            <a:endParaRPr lang="en-US" sz="1450" dirty="0"/>
          </a:p>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payload</a:t>
            </a:r>
            <a:endParaRPr lang="en-US" sz="1450" dirty="0"/>
          </a:p>
        </p:txBody>
      </p:sp>
      <p:sp>
        <p:nvSpPr>
          <p:cNvPr id="12" name="Text 10"/>
          <p:cNvSpPr/>
          <p:nvPr/>
        </p:nvSpPr>
        <p:spPr>
          <a:xfrm>
            <a:off x="9207500" y="291465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A66CFF"/>
                </a:solidFill>
                <a:latin typeface="DejaVu Sans" pitchFamily="34" charset="0"/>
                <a:ea typeface="DejaVu Sans" pitchFamily="34" charset="-122"/>
                <a:cs typeface="DejaVu Sans" pitchFamily="34" charset="-120"/>
              </a:rPr>
              <a:t>Queue</a:t>
            </a:r>
            <a:endParaRPr lang="en-US" sz="1600" dirty="0"/>
          </a:p>
        </p:txBody>
      </p:sp>
      <p:sp>
        <p:nvSpPr>
          <p:cNvPr id="13" name="Text 11"/>
          <p:cNvSpPr/>
          <p:nvPr/>
        </p:nvSpPr>
        <p:spPr>
          <a:xfrm>
            <a:off x="9207500" y="3257550"/>
            <a:ext cx="2527300" cy="524828"/>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Track the same Proof Job</a:t>
            </a:r>
            <a:endParaRPr lang="en-US" sz="1450" dirty="0"/>
          </a:p>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ID</a:t>
            </a:r>
            <a:endParaRPr lang="en-US" sz="1450" dirty="0"/>
          </a:p>
        </p:txBody>
      </p:sp>
      <p:sp>
        <p:nvSpPr>
          <p:cNvPr id="14" name="Text 12"/>
          <p:cNvSpPr/>
          <p:nvPr/>
        </p:nvSpPr>
        <p:spPr>
          <a:xfrm>
            <a:off x="9207500" y="415290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79D66A"/>
                </a:solidFill>
                <a:latin typeface="DejaVu Sans" pitchFamily="34" charset="0"/>
                <a:ea typeface="DejaVu Sans" pitchFamily="34" charset="-122"/>
                <a:cs typeface="DejaVu Sans" pitchFamily="34" charset="-120"/>
              </a:rPr>
              <a:t>Wait</a:t>
            </a:r>
            <a:endParaRPr lang="en-US" sz="1600" dirty="0"/>
          </a:p>
        </p:txBody>
      </p:sp>
      <p:sp>
        <p:nvSpPr>
          <p:cNvPr id="15" name="Text 13"/>
          <p:cNvSpPr/>
          <p:nvPr/>
        </p:nvSpPr>
        <p:spPr>
          <a:xfrm>
            <a:off x="9207500" y="4495800"/>
            <a:ext cx="2527300" cy="285433"/>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Pending is not verified</a:t>
            </a:r>
            <a:endParaRPr lang="en-US" sz="1450" dirty="0"/>
          </a:p>
        </p:txBody>
      </p:sp>
      <p:sp>
        <p:nvSpPr>
          <p:cNvPr id="16" name="Text 14"/>
          <p:cNvSpPr/>
          <p:nvPr/>
        </p:nvSpPr>
        <p:spPr>
          <a:xfrm>
            <a:off x="457200" y="5670550"/>
            <a:ext cx="11277600" cy="216535"/>
          </a:xfrm>
          <a:prstGeom prst="rect">
            <a:avLst/>
          </a:prstGeom>
          <a:noFill/>
          <a:ln/>
        </p:spPr>
        <p:txBody>
          <a:bodyPr wrap="square" lIns="0" tIns="0" rIns="0" bIns="0" rtlCol="0" anchor="t">
            <a:spAutoFit/>
          </a:bodyPr>
          <a:lstStyle/>
          <a:p>
            <a:pPr indent="0" marL="0">
              <a:lnSpc>
                <a:spcPct val="108000"/>
              </a:lnSpc>
              <a:buNone/>
            </a:pPr>
            <a:r>
              <a:rPr lang="en-US" sz="1100" dirty="0">
                <a:solidFill>
                  <a:srgbClr val="AAB7C8"/>
                </a:solidFill>
                <a:latin typeface="DejaVu Sans" pitchFamily="34" charset="0"/>
                <a:ea typeface="DejaVu Sans" pitchFamily="34" charset="-122"/>
                <a:cs typeface="DejaVu Sans" pitchFamily="34" charset="-120"/>
              </a:rPr>
              <a:t>Controlled browser demo · synthetic measurements</a:t>
            </a:r>
            <a:endParaRPr lang="en-US" sz="1100" dirty="0"/>
          </a:p>
        </p:txBody>
      </p:sp>
      <p:sp>
        <p:nvSpPr>
          <p:cNvPr id="17" name="Shape 15"/>
          <p:cNvSpPr/>
          <p:nvPr/>
        </p:nvSpPr>
        <p:spPr>
          <a:xfrm>
            <a:off x="457200" y="6540500"/>
            <a:ext cx="11277600" cy="6350"/>
          </a:xfrm>
          <a:prstGeom prst="rect">
            <a:avLst/>
          </a:prstGeom>
          <a:solidFill>
            <a:srgbClr val="29415C"/>
          </a:solidFill>
          <a:ln w="6350">
            <a:solidFill>
              <a:srgbClr val="29415C"/>
            </a:solidFill>
            <a:prstDash val="solid"/>
          </a:ln>
        </p:spPr>
      </p:sp>
      <p:sp>
        <p:nvSpPr>
          <p:cNvPr id="18" name="Text 16"/>
          <p:cNvSpPr/>
          <p:nvPr/>
        </p:nvSpPr>
        <p:spPr>
          <a:xfrm>
            <a:off x="457200" y="6604000"/>
            <a:ext cx="92075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F6821F"/>
                </a:solidFill>
                <a:latin typeface="DejaVu Sans" pitchFamily="34" charset="0"/>
                <a:ea typeface="DejaVu Sans" pitchFamily="34" charset="-122"/>
                <a:cs typeface="DejaVu Sans" pitchFamily="34" charset="-120"/>
              </a:rPr>
              <a:t>EDIT PREVIEW · NEW GUI RECORDING PENDING</a:t>
            </a:r>
            <a:endParaRPr lang="en-US" sz="900" dirty="0"/>
          </a:p>
        </p:txBody>
      </p:sp>
      <p:sp>
        <p:nvSpPr>
          <p:cNvPr id="19" name="Text 17"/>
          <p:cNvSpPr/>
          <p:nvPr/>
        </p:nvSpPr>
        <p:spPr>
          <a:xfrm>
            <a:off x="10858500" y="6604000"/>
            <a:ext cx="8763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AAB7C8"/>
                </a:solidFill>
                <a:latin typeface="DejaVu Sans" pitchFamily="34" charset="0"/>
                <a:ea typeface="DejaVu Sans" pitchFamily="34" charset="-122"/>
                <a:cs typeface="DejaVu Sans" pitchFamily="34" charset="-120"/>
              </a:rPr>
              <a:t>05 / 11</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6111F"/>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solidFill>
            <a:srgbClr val="38D6E8"/>
          </a:solidFill>
          <a:ln w="6350">
            <a:solidFill>
              <a:srgbClr val="38D6E8"/>
            </a:solidFill>
            <a:prstDash val="solid"/>
          </a:ln>
        </p:spPr>
      </p:sp>
      <p:pic>
        <p:nvPicPr>
          <p:cNvPr id="3" name="Image 0" descr="Continuous measurement. Scheduled proof.">    </p:cNvPr>
          <p:cNvPicPr>
            <a:picLocks noChangeAspect="1"/>
          </p:cNvPicPr>
          <p:nvPr/>
        </p:nvPicPr>
        <p:blipFill>
          <a:blip r:embed="rId1"/>
          <a:stretch>
            <a:fillRect/>
          </a:stretch>
        </p:blipFill>
        <p:spPr>
          <a:xfrm>
            <a:off x="1187943" y="114300"/>
            <a:ext cx="9816115" cy="5524500"/>
          </a:xfrm>
          <a:prstGeom prst="rect">
            <a:avLst/>
          </a:prstGeom>
        </p:spPr>
      </p:pic>
      <p:sp>
        <p:nvSpPr>
          <p:cNvPr id="4" name="Text 1"/>
          <p:cNvSpPr/>
          <p:nvPr/>
        </p:nvSpPr>
        <p:spPr>
          <a:xfrm>
            <a:off x="1016000" y="5676900"/>
            <a:ext cx="10160000" cy="216535"/>
          </a:xfrm>
          <a:prstGeom prst="rect">
            <a:avLst/>
          </a:prstGeom>
          <a:noFill/>
          <a:ln/>
        </p:spPr>
        <p:txBody>
          <a:bodyPr wrap="square" lIns="0" tIns="0" rIns="0" bIns="0" rtlCol="0" anchor="t">
            <a:spAutoFit/>
          </a:bodyPr>
          <a:lstStyle/>
          <a:p>
            <a:pPr indent="0" marL="0">
              <a:lnSpc>
                <a:spcPct val="108000"/>
              </a:lnSpc>
              <a:buNone/>
            </a:pPr>
            <a:r>
              <a:rPr lang="en-US" sz="1100" dirty="0">
                <a:solidFill>
                  <a:srgbClr val="AAB7C8"/>
                </a:solidFill>
                <a:latin typeface="DejaVu Sans" pitchFamily="34" charset="0"/>
                <a:ea typeface="DejaVu Sans" pitchFamily="34" charset="-122"/>
                <a:cs typeface="DejaVu Sans" pitchFamily="34" charset="-120"/>
              </a:rPr>
              <a:t>Architecture illustration · field device path</a:t>
            </a:r>
            <a:endParaRPr lang="en-US" sz="1100" dirty="0"/>
          </a:p>
        </p:txBody>
      </p:sp>
      <p:sp>
        <p:nvSpPr>
          <p:cNvPr id="5" name="Shape 2"/>
          <p:cNvSpPr/>
          <p:nvPr/>
        </p:nvSpPr>
        <p:spPr>
          <a:xfrm>
            <a:off x="457200" y="6540500"/>
            <a:ext cx="11277600" cy="6350"/>
          </a:xfrm>
          <a:prstGeom prst="rect">
            <a:avLst/>
          </a:prstGeom>
          <a:solidFill>
            <a:srgbClr val="29415C"/>
          </a:solidFill>
          <a:ln w="6350">
            <a:solidFill>
              <a:srgbClr val="29415C"/>
            </a:solidFill>
            <a:prstDash val="solid"/>
          </a:ln>
        </p:spPr>
      </p:sp>
      <p:sp>
        <p:nvSpPr>
          <p:cNvPr id="6" name="Text 3"/>
          <p:cNvSpPr/>
          <p:nvPr/>
        </p:nvSpPr>
        <p:spPr>
          <a:xfrm>
            <a:off x="457200" y="6604000"/>
            <a:ext cx="92075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F6821F"/>
                </a:solidFill>
                <a:latin typeface="DejaVu Sans" pitchFamily="34" charset="0"/>
                <a:ea typeface="DejaVu Sans" pitchFamily="34" charset="-122"/>
                <a:cs typeface="DejaVu Sans" pitchFamily="34" charset="-120"/>
              </a:rPr>
              <a:t>EDIT PREVIEW · NEW GUI RECORDING PENDING</a:t>
            </a:r>
            <a:endParaRPr lang="en-US" sz="900" dirty="0"/>
          </a:p>
        </p:txBody>
      </p:sp>
      <p:sp>
        <p:nvSpPr>
          <p:cNvPr id="7" name="Text 4"/>
          <p:cNvSpPr/>
          <p:nvPr/>
        </p:nvSpPr>
        <p:spPr>
          <a:xfrm>
            <a:off x="10858500" y="6604000"/>
            <a:ext cx="8763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AAB7C8"/>
                </a:solidFill>
                <a:latin typeface="DejaVu Sans" pitchFamily="34" charset="0"/>
                <a:ea typeface="DejaVu Sans" pitchFamily="34" charset="-122"/>
                <a:cs typeface="DejaVu Sans" pitchFamily="34" charset="-120"/>
              </a:rPr>
              <a:t>06 / 11</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6111F"/>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solidFill>
            <a:srgbClr val="38D6E8"/>
          </a:solidFill>
          <a:ln w="6350">
            <a:solidFill>
              <a:srgbClr val="38D6E8"/>
            </a:solidFill>
            <a:prstDash val="solid"/>
          </a:ln>
        </p:spPr>
      </p:sp>
      <p:pic>
        <p:nvPicPr>
          <p:cNvPr id="3" name="Image 0" descr="Start only when eligible work is due">    </p:cNvPr>
          <p:cNvPicPr>
            <a:picLocks noChangeAspect="1"/>
          </p:cNvPicPr>
          <p:nvPr/>
        </p:nvPicPr>
        <p:blipFill>
          <a:blip r:embed="rId1"/>
          <a:stretch>
            <a:fillRect/>
          </a:stretch>
        </p:blipFill>
        <p:spPr>
          <a:xfrm>
            <a:off x="1187943" y="114300"/>
            <a:ext cx="9816115" cy="5524500"/>
          </a:xfrm>
          <a:prstGeom prst="rect">
            <a:avLst/>
          </a:prstGeom>
        </p:spPr>
      </p:pic>
      <p:sp>
        <p:nvSpPr>
          <p:cNvPr id="4" name="Text 1"/>
          <p:cNvSpPr/>
          <p:nvPr/>
        </p:nvSpPr>
        <p:spPr>
          <a:xfrm>
            <a:off x="1016000" y="5676900"/>
            <a:ext cx="10160000" cy="216535"/>
          </a:xfrm>
          <a:prstGeom prst="rect">
            <a:avLst/>
          </a:prstGeom>
          <a:noFill/>
          <a:ln/>
        </p:spPr>
        <p:txBody>
          <a:bodyPr wrap="square" lIns="0" tIns="0" rIns="0" bIns="0" rtlCol="0" anchor="t">
            <a:spAutoFit/>
          </a:bodyPr>
          <a:lstStyle/>
          <a:p>
            <a:pPr indent="0" marL="0">
              <a:lnSpc>
                <a:spcPct val="108000"/>
              </a:lnSpc>
              <a:buNone/>
            </a:pPr>
            <a:r>
              <a:rPr lang="en-US" sz="1100" dirty="0">
                <a:solidFill>
                  <a:srgbClr val="AAB7C8"/>
                </a:solidFill>
                <a:latin typeface="DejaVu Sans" pitchFamily="34" charset="0"/>
                <a:ea typeface="DejaVu Sans" pitchFamily="34" charset="-122"/>
                <a:cs typeface="DejaVu Sans" pitchFamily="34" charset="-120"/>
              </a:rPr>
              <a:t>Architecture illustration · field device path</a:t>
            </a:r>
            <a:endParaRPr lang="en-US" sz="1100" dirty="0"/>
          </a:p>
        </p:txBody>
      </p:sp>
      <p:sp>
        <p:nvSpPr>
          <p:cNvPr id="5" name="Shape 2"/>
          <p:cNvSpPr/>
          <p:nvPr/>
        </p:nvSpPr>
        <p:spPr>
          <a:xfrm>
            <a:off x="457200" y="6540500"/>
            <a:ext cx="11277600" cy="6350"/>
          </a:xfrm>
          <a:prstGeom prst="rect">
            <a:avLst/>
          </a:prstGeom>
          <a:solidFill>
            <a:srgbClr val="29415C"/>
          </a:solidFill>
          <a:ln w="6350">
            <a:solidFill>
              <a:srgbClr val="29415C"/>
            </a:solidFill>
            <a:prstDash val="solid"/>
          </a:ln>
        </p:spPr>
      </p:sp>
      <p:sp>
        <p:nvSpPr>
          <p:cNvPr id="6" name="Text 3"/>
          <p:cNvSpPr/>
          <p:nvPr/>
        </p:nvSpPr>
        <p:spPr>
          <a:xfrm>
            <a:off x="457200" y="6604000"/>
            <a:ext cx="92075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F6821F"/>
                </a:solidFill>
                <a:latin typeface="DejaVu Sans" pitchFamily="34" charset="0"/>
                <a:ea typeface="DejaVu Sans" pitchFamily="34" charset="-122"/>
                <a:cs typeface="DejaVu Sans" pitchFamily="34" charset="-120"/>
              </a:rPr>
              <a:t>EDIT PREVIEW · NEW GUI RECORDING PENDING</a:t>
            </a:r>
            <a:endParaRPr lang="en-US" sz="900" dirty="0"/>
          </a:p>
        </p:txBody>
      </p:sp>
      <p:sp>
        <p:nvSpPr>
          <p:cNvPr id="7" name="Text 4"/>
          <p:cNvSpPr/>
          <p:nvPr/>
        </p:nvSpPr>
        <p:spPr>
          <a:xfrm>
            <a:off x="10858500" y="6604000"/>
            <a:ext cx="8763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AAB7C8"/>
                </a:solidFill>
                <a:latin typeface="DejaVu Sans" pitchFamily="34" charset="0"/>
                <a:ea typeface="DejaVu Sans" pitchFamily="34" charset="-122"/>
                <a:cs typeface="DejaVu Sans" pitchFamily="34" charset="-120"/>
              </a:rPr>
              <a:t>07 / 11</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6111F"/>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solidFill>
            <a:srgbClr val="38D6E8"/>
          </a:solidFill>
          <a:ln w="6350">
            <a:solidFill>
              <a:srgbClr val="38D6E8"/>
            </a:solidFill>
            <a:prstDash val="solid"/>
          </a:ln>
        </p:spPr>
      </p:sp>
      <p:sp>
        <p:nvSpPr>
          <p:cNvPr id="3" name="Text 1"/>
          <p:cNvSpPr/>
          <p:nvPr/>
        </p:nvSpPr>
        <p:spPr>
          <a:xfrm>
            <a:off x="457200" y="330200"/>
            <a:ext cx="11277600" cy="236220"/>
          </a:xfrm>
          <a:prstGeom prst="rect">
            <a:avLst/>
          </a:prstGeom>
          <a:noFill/>
          <a:ln/>
        </p:spPr>
        <p:txBody>
          <a:bodyPr wrap="square" lIns="0" tIns="0" rIns="0" bIns="0" rtlCol="0" anchor="t">
            <a:spAutoFit/>
          </a:bodyPr>
          <a:lstStyle/>
          <a:p>
            <a:pPr indent="0" marL="0">
              <a:lnSpc>
                <a:spcPct val="108000"/>
              </a:lnSpc>
              <a:buNone/>
            </a:pPr>
            <a:r>
              <a:rPr lang="en-US" sz="1200" b="1" dirty="0">
                <a:solidFill>
                  <a:srgbClr val="38D6E8"/>
                </a:solidFill>
                <a:latin typeface="DejaVu Sans" pitchFamily="34" charset="0"/>
                <a:ea typeface="DejaVu Sans" pitchFamily="34" charset="-122"/>
                <a:cs typeface="DejaVu Sans" pitchFamily="34" charset="-120"/>
              </a:rPr>
              <a:t>04 / CONFIRMED RECORD</a:t>
            </a:r>
            <a:endParaRPr lang="en-US" sz="1200" dirty="0"/>
          </a:p>
        </p:txBody>
      </p:sp>
      <p:sp>
        <p:nvSpPr>
          <p:cNvPr id="4" name="Text 2"/>
          <p:cNvSpPr/>
          <p:nvPr/>
        </p:nvSpPr>
        <p:spPr>
          <a:xfrm>
            <a:off x="457200" y="685800"/>
            <a:ext cx="11277600" cy="570865"/>
          </a:xfrm>
          <a:prstGeom prst="rect">
            <a:avLst/>
          </a:prstGeom>
          <a:noFill/>
          <a:ln/>
        </p:spPr>
        <p:txBody>
          <a:bodyPr wrap="square" lIns="0" tIns="0" rIns="0" bIns="0" rtlCol="0" anchor="t">
            <a:spAutoFit/>
          </a:bodyPr>
          <a:lstStyle/>
          <a:p>
            <a:pPr indent="0" marL="0">
              <a:lnSpc>
                <a:spcPct val="108000"/>
              </a:lnSpc>
              <a:buNone/>
            </a:pPr>
            <a:r>
              <a:rPr lang="en-US" sz="2900" b="1" dirty="0">
                <a:solidFill>
                  <a:srgbClr val="F5F7FB"/>
                </a:solidFill>
                <a:latin typeface="DejaVu Sans" pitchFamily="34" charset="0"/>
                <a:ea typeface="DejaVu Sans" pitchFamily="34" charset="-122"/>
                <a:cs typeface="DejaVu Sans" pitchFamily="34" charset="-120"/>
              </a:rPr>
              <a:t>Return to the same job after processing</a:t>
            </a:r>
            <a:endParaRPr lang="en-US" sz="2900" dirty="0"/>
          </a:p>
        </p:txBody>
      </p:sp>
      <p:sp>
        <p:nvSpPr>
          <p:cNvPr id="5" name="Shape 3"/>
          <p:cNvSpPr/>
          <p:nvPr/>
        </p:nvSpPr>
        <p:spPr>
          <a:xfrm>
            <a:off x="457200" y="1524000"/>
            <a:ext cx="8382000" cy="4064000"/>
          </a:xfrm>
          <a:prstGeom prst="roundRect">
            <a:avLst>
              <a:gd name="adj" fmla="val 1875"/>
            </a:avLst>
          </a:prstGeom>
          <a:solidFill>
            <a:srgbClr val="0D1B2B"/>
          </a:solidFill>
          <a:ln w="6350">
            <a:solidFill>
              <a:srgbClr val="29415C"/>
            </a:solidFill>
            <a:prstDash val="solid"/>
          </a:ln>
        </p:spPr>
      </p:sp>
      <p:sp>
        <p:nvSpPr>
          <p:cNvPr id="6" name="Text 4"/>
          <p:cNvSpPr/>
          <p:nvPr/>
        </p:nvSpPr>
        <p:spPr>
          <a:xfrm>
            <a:off x="800100" y="1905000"/>
            <a:ext cx="7302500" cy="984250"/>
          </a:xfrm>
          <a:prstGeom prst="rect">
            <a:avLst/>
          </a:prstGeom>
          <a:noFill/>
          <a:ln/>
        </p:spPr>
        <p:txBody>
          <a:bodyPr wrap="square" lIns="0" tIns="0" rIns="0" bIns="0" rtlCol="0" anchor="t">
            <a:spAutoFit/>
          </a:bodyPr>
          <a:lstStyle/>
          <a:p>
            <a:pPr indent="0" marL="0">
              <a:lnSpc>
                <a:spcPct val="108000"/>
              </a:lnSpc>
              <a:buNone/>
            </a:pPr>
            <a:r>
              <a:rPr lang="en-US" sz="5000" b="1" dirty="0">
                <a:solidFill>
                  <a:srgbClr val="38D6E8"/>
                </a:solidFill>
                <a:latin typeface="DejaVu Sans" pitchFamily="34" charset="0"/>
                <a:ea typeface="DejaVu Sans" pitchFamily="34" charset="-122"/>
                <a:cs typeface="DejaVu Sans" pitchFamily="34" charset="-120"/>
              </a:rPr>
              <a:t>G04</a:t>
            </a:r>
            <a:endParaRPr lang="en-US" sz="5000" dirty="0"/>
          </a:p>
        </p:txBody>
      </p:sp>
      <p:sp>
        <p:nvSpPr>
          <p:cNvPr id="7" name="Text 5"/>
          <p:cNvSpPr/>
          <p:nvPr/>
        </p:nvSpPr>
        <p:spPr>
          <a:xfrm>
            <a:off x="800100" y="3009900"/>
            <a:ext cx="7302500" cy="511810"/>
          </a:xfrm>
          <a:prstGeom prst="rect">
            <a:avLst/>
          </a:prstGeom>
          <a:noFill/>
          <a:ln/>
        </p:spPr>
        <p:txBody>
          <a:bodyPr wrap="square" lIns="0" tIns="0" rIns="0" bIns="0" rtlCol="0" anchor="t">
            <a:spAutoFit/>
          </a:bodyPr>
          <a:lstStyle/>
          <a:p>
            <a:pPr indent="0" marL="0">
              <a:lnSpc>
                <a:spcPct val="108000"/>
              </a:lnSpc>
              <a:buNone/>
            </a:pPr>
            <a:r>
              <a:rPr lang="en-US" sz="2600" b="1" dirty="0">
                <a:solidFill>
                  <a:srgbClr val="F5F7FB"/>
                </a:solidFill>
                <a:latin typeface="DejaVu Sans" pitchFamily="34" charset="0"/>
                <a:ea typeface="DejaVu Sans" pitchFamily="34" charset="-122"/>
                <a:cs typeface="DejaVu Sans" pitchFamily="34" charset="-120"/>
              </a:rPr>
              <a:t>New GUI recording pending</a:t>
            </a:r>
            <a:endParaRPr lang="en-US" sz="2600" dirty="0"/>
          </a:p>
        </p:txBody>
      </p:sp>
      <p:sp>
        <p:nvSpPr>
          <p:cNvPr id="8" name="Text 6"/>
          <p:cNvSpPr/>
          <p:nvPr/>
        </p:nvSpPr>
        <p:spPr>
          <a:xfrm>
            <a:off x="800100" y="3898900"/>
            <a:ext cx="7302500" cy="314960"/>
          </a:xfrm>
          <a:prstGeom prst="rect">
            <a:avLst/>
          </a:prstGeom>
          <a:noFill/>
          <a:ln/>
        </p:spPr>
        <p:txBody>
          <a:bodyPr wrap="square" lIns="0" tIns="0" rIns="0" bIns="0" rtlCol="0" anchor="t">
            <a:spAutoFit/>
          </a:bodyPr>
          <a:lstStyle/>
          <a:p>
            <a:pPr indent="0" marL="0">
              <a:lnSpc>
                <a:spcPct val="108000"/>
              </a:lnSpc>
              <a:buNone/>
            </a:pPr>
            <a:r>
              <a:rPr lang="en-US" sz="1600" dirty="0">
                <a:solidFill>
                  <a:srgbClr val="AAB7C8"/>
                </a:solidFill>
                <a:latin typeface="DejaVu Sans" pitchFamily="34" charset="0"/>
                <a:ea typeface="DejaVu Sans" pitchFamily="34" charset="-122"/>
                <a:cs typeface="DejaVu Sans" pitchFamily="34" charset="-120"/>
              </a:rPr>
              <a:t>Later capture · elapsed waiting time is omitted</a:t>
            </a:r>
            <a:endParaRPr lang="en-US" sz="1600" dirty="0"/>
          </a:p>
        </p:txBody>
      </p:sp>
      <p:sp>
        <p:nvSpPr>
          <p:cNvPr id="9" name="Text 7"/>
          <p:cNvSpPr/>
          <p:nvPr/>
        </p:nvSpPr>
        <p:spPr>
          <a:xfrm>
            <a:off x="800100" y="5111750"/>
            <a:ext cx="7302500" cy="226378"/>
          </a:xfrm>
          <a:prstGeom prst="rect">
            <a:avLst/>
          </a:prstGeom>
          <a:noFill/>
          <a:ln/>
        </p:spPr>
        <p:txBody>
          <a:bodyPr wrap="square" lIns="0" tIns="0" rIns="0" bIns="0" rtlCol="0" anchor="t">
            <a:spAutoFit/>
          </a:bodyPr>
          <a:lstStyle/>
          <a:p>
            <a:pPr indent="0" marL="0">
              <a:lnSpc>
                <a:spcPct val="108000"/>
              </a:lnSpc>
              <a:buNone/>
            </a:pPr>
            <a:r>
              <a:rPr lang="en-US" sz="1150" dirty="0">
                <a:solidFill>
                  <a:srgbClr val="F6821F"/>
                </a:solidFill>
                <a:latin typeface="DejaVu Sans" pitchFamily="34" charset="0"/>
                <a:ea typeface="DejaVu Sans" pitchFamily="34" charset="-122"/>
                <a:cs typeface="DejaVu Sans" pitchFamily="34" charset="-120"/>
              </a:rPr>
              <a:t>Shot placeholder. No recorded action or result is shown.</a:t>
            </a:r>
            <a:endParaRPr lang="en-US" sz="1150" dirty="0"/>
          </a:p>
        </p:txBody>
      </p:sp>
      <p:sp>
        <p:nvSpPr>
          <p:cNvPr id="10" name="Text 8"/>
          <p:cNvSpPr/>
          <p:nvPr/>
        </p:nvSpPr>
        <p:spPr>
          <a:xfrm>
            <a:off x="9207500" y="167640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38D6E8"/>
                </a:solidFill>
                <a:latin typeface="DejaVu Sans" pitchFamily="34" charset="0"/>
                <a:ea typeface="DejaVu Sans" pitchFamily="34" charset="-122"/>
                <a:cs typeface="DejaVu Sans" pitchFamily="34" charset="-120"/>
              </a:rPr>
              <a:t>Match</a:t>
            </a:r>
            <a:endParaRPr lang="en-US" sz="1600" dirty="0"/>
          </a:p>
        </p:txBody>
      </p:sp>
      <p:sp>
        <p:nvSpPr>
          <p:cNvPr id="11" name="Text 9"/>
          <p:cNvSpPr/>
          <p:nvPr/>
        </p:nvSpPr>
        <p:spPr>
          <a:xfrm>
            <a:off x="9207500" y="2019300"/>
            <a:ext cx="2527300" cy="285433"/>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Same Device, day, and job</a:t>
            </a:r>
            <a:endParaRPr lang="en-US" sz="1450" dirty="0"/>
          </a:p>
        </p:txBody>
      </p:sp>
      <p:sp>
        <p:nvSpPr>
          <p:cNvPr id="12" name="Text 10"/>
          <p:cNvSpPr/>
          <p:nvPr/>
        </p:nvSpPr>
        <p:spPr>
          <a:xfrm>
            <a:off x="9207500" y="291465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A66CFF"/>
                </a:solidFill>
                <a:latin typeface="DejaVu Sans" pitchFamily="34" charset="0"/>
                <a:ea typeface="DejaVu Sans" pitchFamily="34" charset="-122"/>
                <a:cs typeface="DejaVu Sans" pitchFamily="34" charset="-120"/>
              </a:rPr>
              <a:t>Confirm</a:t>
            </a:r>
            <a:endParaRPr lang="en-US" sz="1600" dirty="0"/>
          </a:p>
        </p:txBody>
      </p:sp>
      <p:sp>
        <p:nvSpPr>
          <p:cNvPr id="13" name="Text 11"/>
          <p:cNvSpPr/>
          <p:nvPr/>
        </p:nvSpPr>
        <p:spPr>
          <a:xfrm>
            <a:off x="9207500" y="3257550"/>
            <a:ext cx="2527300" cy="524828"/>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Confirmed transaction</a:t>
            </a:r>
            <a:endParaRPr lang="en-US" sz="1450" dirty="0"/>
          </a:p>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state</a:t>
            </a:r>
            <a:endParaRPr lang="en-US" sz="1450" dirty="0"/>
          </a:p>
        </p:txBody>
      </p:sp>
      <p:sp>
        <p:nvSpPr>
          <p:cNvPr id="14" name="Text 12"/>
          <p:cNvSpPr/>
          <p:nvPr/>
        </p:nvSpPr>
        <p:spPr>
          <a:xfrm>
            <a:off x="9207500" y="415290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79D66A"/>
                </a:solidFill>
                <a:latin typeface="DejaVu Sans" pitchFamily="34" charset="0"/>
                <a:ea typeface="DejaVu Sans" pitchFamily="34" charset="-122"/>
                <a:cs typeface="DejaVu Sans" pitchFamily="34" charset="-120"/>
              </a:rPr>
              <a:t>Carry forward</a:t>
            </a:r>
            <a:endParaRPr lang="en-US" sz="1600" dirty="0"/>
          </a:p>
        </p:txBody>
      </p:sp>
      <p:sp>
        <p:nvSpPr>
          <p:cNvPr id="15" name="Text 13"/>
          <p:cNvSpPr/>
          <p:nvPr/>
        </p:nvSpPr>
        <p:spPr>
          <a:xfrm>
            <a:off x="9207500" y="4495800"/>
            <a:ext cx="2527300" cy="524828"/>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Transaction hash for</a:t>
            </a:r>
            <a:endParaRPr lang="en-US" sz="1450" dirty="0"/>
          </a:p>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verification</a:t>
            </a:r>
            <a:endParaRPr lang="en-US" sz="1450" dirty="0"/>
          </a:p>
        </p:txBody>
      </p:sp>
      <p:sp>
        <p:nvSpPr>
          <p:cNvPr id="16" name="Text 14"/>
          <p:cNvSpPr/>
          <p:nvPr/>
        </p:nvSpPr>
        <p:spPr>
          <a:xfrm>
            <a:off x="457200" y="5670550"/>
            <a:ext cx="11277600" cy="216535"/>
          </a:xfrm>
          <a:prstGeom prst="rect">
            <a:avLst/>
          </a:prstGeom>
          <a:noFill/>
          <a:ln/>
        </p:spPr>
        <p:txBody>
          <a:bodyPr wrap="square" lIns="0" tIns="0" rIns="0" bIns="0" rtlCol="0" anchor="t">
            <a:spAutoFit/>
          </a:bodyPr>
          <a:lstStyle/>
          <a:p>
            <a:pPr indent="0" marL="0">
              <a:lnSpc>
                <a:spcPct val="108000"/>
              </a:lnSpc>
              <a:buNone/>
            </a:pPr>
            <a:r>
              <a:rPr lang="en-US" sz="1100" dirty="0">
                <a:solidFill>
                  <a:srgbClr val="AAB7C8"/>
                </a:solidFill>
                <a:latin typeface="DejaVu Sans" pitchFamily="34" charset="0"/>
                <a:ea typeface="DejaVu Sans" pitchFamily="34" charset="-122"/>
                <a:cs typeface="DejaVu Sans" pitchFamily="34" charset="-120"/>
              </a:rPr>
              <a:t>Later capture · elapsed waiting time is omitted</a:t>
            </a:r>
            <a:endParaRPr lang="en-US" sz="1100" dirty="0"/>
          </a:p>
        </p:txBody>
      </p:sp>
      <p:sp>
        <p:nvSpPr>
          <p:cNvPr id="17" name="Shape 15"/>
          <p:cNvSpPr/>
          <p:nvPr/>
        </p:nvSpPr>
        <p:spPr>
          <a:xfrm>
            <a:off x="457200" y="6540500"/>
            <a:ext cx="11277600" cy="6350"/>
          </a:xfrm>
          <a:prstGeom prst="rect">
            <a:avLst/>
          </a:prstGeom>
          <a:solidFill>
            <a:srgbClr val="29415C"/>
          </a:solidFill>
          <a:ln w="6350">
            <a:solidFill>
              <a:srgbClr val="29415C"/>
            </a:solidFill>
            <a:prstDash val="solid"/>
          </a:ln>
        </p:spPr>
      </p:sp>
      <p:sp>
        <p:nvSpPr>
          <p:cNvPr id="18" name="Text 16"/>
          <p:cNvSpPr/>
          <p:nvPr/>
        </p:nvSpPr>
        <p:spPr>
          <a:xfrm>
            <a:off x="457200" y="6604000"/>
            <a:ext cx="92075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F6821F"/>
                </a:solidFill>
                <a:latin typeface="DejaVu Sans" pitchFamily="34" charset="0"/>
                <a:ea typeface="DejaVu Sans" pitchFamily="34" charset="-122"/>
                <a:cs typeface="DejaVu Sans" pitchFamily="34" charset="-120"/>
              </a:rPr>
              <a:t>EDIT PREVIEW · NEW GUI RECORDING PENDING</a:t>
            </a:r>
            <a:endParaRPr lang="en-US" sz="900" dirty="0"/>
          </a:p>
        </p:txBody>
      </p:sp>
      <p:sp>
        <p:nvSpPr>
          <p:cNvPr id="19" name="Text 17"/>
          <p:cNvSpPr/>
          <p:nvPr/>
        </p:nvSpPr>
        <p:spPr>
          <a:xfrm>
            <a:off x="10858500" y="6604000"/>
            <a:ext cx="8763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AAB7C8"/>
                </a:solidFill>
                <a:latin typeface="DejaVu Sans" pitchFamily="34" charset="0"/>
                <a:ea typeface="DejaVu Sans" pitchFamily="34" charset="-122"/>
                <a:cs typeface="DejaVu Sans" pitchFamily="34" charset="-120"/>
              </a:rPr>
              <a:t>08 / 11</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6111F"/>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solidFill>
            <a:srgbClr val="38D6E8"/>
          </a:solidFill>
          <a:ln w="6350">
            <a:solidFill>
              <a:srgbClr val="38D6E8"/>
            </a:solidFill>
            <a:prstDash val="solid"/>
          </a:ln>
        </p:spPr>
      </p:sp>
      <p:sp>
        <p:nvSpPr>
          <p:cNvPr id="3" name="Text 1"/>
          <p:cNvSpPr/>
          <p:nvPr/>
        </p:nvSpPr>
        <p:spPr>
          <a:xfrm>
            <a:off x="457200" y="330200"/>
            <a:ext cx="11277600" cy="236220"/>
          </a:xfrm>
          <a:prstGeom prst="rect">
            <a:avLst/>
          </a:prstGeom>
          <a:noFill/>
          <a:ln/>
        </p:spPr>
        <p:txBody>
          <a:bodyPr wrap="square" lIns="0" tIns="0" rIns="0" bIns="0" rtlCol="0" anchor="t">
            <a:spAutoFit/>
          </a:bodyPr>
          <a:lstStyle/>
          <a:p>
            <a:pPr indent="0" marL="0">
              <a:lnSpc>
                <a:spcPct val="108000"/>
              </a:lnSpc>
              <a:buNone/>
            </a:pPr>
            <a:r>
              <a:rPr lang="en-US" sz="1200" b="1" dirty="0">
                <a:solidFill>
                  <a:srgbClr val="38D6E8"/>
                </a:solidFill>
                <a:latin typeface="DejaVu Sans" pitchFamily="34" charset="0"/>
                <a:ea typeface="DejaVu Sans" pitchFamily="34" charset="-122"/>
                <a:cs typeface="DejaVu Sans" pitchFamily="34" charset="-120"/>
              </a:rPr>
              <a:t>05 / THIRD-PARTY VERIFICATION</a:t>
            </a:r>
            <a:endParaRPr lang="en-US" sz="1200" dirty="0"/>
          </a:p>
        </p:txBody>
      </p:sp>
      <p:sp>
        <p:nvSpPr>
          <p:cNvPr id="4" name="Text 2"/>
          <p:cNvSpPr/>
          <p:nvPr/>
        </p:nvSpPr>
        <p:spPr>
          <a:xfrm>
            <a:off x="457200" y="685800"/>
            <a:ext cx="11277600" cy="570865"/>
          </a:xfrm>
          <a:prstGeom prst="rect">
            <a:avLst/>
          </a:prstGeom>
          <a:noFill/>
          <a:ln/>
        </p:spPr>
        <p:txBody>
          <a:bodyPr wrap="square" lIns="0" tIns="0" rIns="0" bIns="0" rtlCol="0" anchor="t">
            <a:spAutoFit/>
          </a:bodyPr>
          <a:lstStyle/>
          <a:p>
            <a:pPr indent="0" marL="0">
              <a:lnSpc>
                <a:spcPct val="108000"/>
              </a:lnSpc>
              <a:buNone/>
            </a:pPr>
            <a:r>
              <a:rPr lang="en-US" sz="2900" b="1" dirty="0">
                <a:solidFill>
                  <a:srgbClr val="F5F7FB"/>
                </a:solidFill>
                <a:latin typeface="DejaVu Sans" pitchFamily="34" charset="0"/>
                <a:ea typeface="DejaVu Sans" pitchFamily="34" charset="-122"/>
                <a:cs typeface="DejaVu Sans" pitchFamily="34" charset="-120"/>
              </a:rPr>
              <a:t>A reviewer starts with the transaction hash</a:t>
            </a:r>
            <a:endParaRPr lang="en-US" sz="2900" dirty="0"/>
          </a:p>
        </p:txBody>
      </p:sp>
      <p:sp>
        <p:nvSpPr>
          <p:cNvPr id="5" name="Shape 3"/>
          <p:cNvSpPr/>
          <p:nvPr/>
        </p:nvSpPr>
        <p:spPr>
          <a:xfrm>
            <a:off x="457200" y="1524000"/>
            <a:ext cx="8382000" cy="4064000"/>
          </a:xfrm>
          <a:prstGeom prst="roundRect">
            <a:avLst>
              <a:gd name="adj" fmla="val 1875"/>
            </a:avLst>
          </a:prstGeom>
          <a:solidFill>
            <a:srgbClr val="0D1B2B"/>
          </a:solidFill>
          <a:ln w="6350">
            <a:solidFill>
              <a:srgbClr val="29415C"/>
            </a:solidFill>
            <a:prstDash val="solid"/>
          </a:ln>
        </p:spPr>
      </p:sp>
      <p:sp>
        <p:nvSpPr>
          <p:cNvPr id="6" name="Text 4"/>
          <p:cNvSpPr/>
          <p:nvPr/>
        </p:nvSpPr>
        <p:spPr>
          <a:xfrm>
            <a:off x="800100" y="1905000"/>
            <a:ext cx="7302500" cy="984250"/>
          </a:xfrm>
          <a:prstGeom prst="rect">
            <a:avLst/>
          </a:prstGeom>
          <a:noFill/>
          <a:ln/>
        </p:spPr>
        <p:txBody>
          <a:bodyPr wrap="square" lIns="0" tIns="0" rIns="0" bIns="0" rtlCol="0" anchor="t">
            <a:spAutoFit/>
          </a:bodyPr>
          <a:lstStyle/>
          <a:p>
            <a:pPr indent="0" marL="0">
              <a:lnSpc>
                <a:spcPct val="108000"/>
              </a:lnSpc>
              <a:buNone/>
            </a:pPr>
            <a:r>
              <a:rPr lang="en-US" sz="5000" b="1" dirty="0">
                <a:solidFill>
                  <a:srgbClr val="38D6E8"/>
                </a:solidFill>
                <a:latin typeface="DejaVu Sans" pitchFamily="34" charset="0"/>
                <a:ea typeface="DejaVu Sans" pitchFamily="34" charset="-122"/>
                <a:cs typeface="DejaVu Sans" pitchFamily="34" charset="-120"/>
              </a:rPr>
              <a:t>G05</a:t>
            </a:r>
            <a:endParaRPr lang="en-US" sz="5000" dirty="0"/>
          </a:p>
        </p:txBody>
      </p:sp>
      <p:sp>
        <p:nvSpPr>
          <p:cNvPr id="7" name="Text 5"/>
          <p:cNvSpPr/>
          <p:nvPr/>
        </p:nvSpPr>
        <p:spPr>
          <a:xfrm>
            <a:off x="800100" y="3009900"/>
            <a:ext cx="7302500" cy="511810"/>
          </a:xfrm>
          <a:prstGeom prst="rect">
            <a:avLst/>
          </a:prstGeom>
          <a:noFill/>
          <a:ln/>
        </p:spPr>
        <p:txBody>
          <a:bodyPr wrap="square" lIns="0" tIns="0" rIns="0" bIns="0" rtlCol="0" anchor="t">
            <a:spAutoFit/>
          </a:bodyPr>
          <a:lstStyle/>
          <a:p>
            <a:pPr indent="0" marL="0">
              <a:lnSpc>
                <a:spcPct val="108000"/>
              </a:lnSpc>
              <a:buNone/>
            </a:pPr>
            <a:r>
              <a:rPr lang="en-US" sz="2600" b="1" dirty="0">
                <a:solidFill>
                  <a:srgbClr val="F5F7FB"/>
                </a:solidFill>
                <a:latin typeface="DejaVu Sans" pitchFamily="34" charset="0"/>
                <a:ea typeface="DejaVu Sans" pitchFamily="34" charset="-122"/>
                <a:cs typeface="DejaVu Sans" pitchFamily="34" charset="-120"/>
              </a:rPr>
              <a:t>New GUI recording pending</a:t>
            </a:r>
            <a:endParaRPr lang="en-US" sz="2600" dirty="0"/>
          </a:p>
        </p:txBody>
      </p:sp>
      <p:sp>
        <p:nvSpPr>
          <p:cNvPr id="8" name="Text 6"/>
          <p:cNvSpPr/>
          <p:nvPr/>
        </p:nvSpPr>
        <p:spPr>
          <a:xfrm>
            <a:off x="800100" y="3898900"/>
            <a:ext cx="7302500" cy="314960"/>
          </a:xfrm>
          <a:prstGeom prst="rect">
            <a:avLst/>
          </a:prstGeom>
          <a:noFill/>
          <a:ln/>
        </p:spPr>
        <p:txBody>
          <a:bodyPr wrap="square" lIns="0" tIns="0" rIns="0" bIns="0" rtlCol="0" anchor="t">
            <a:spAutoFit/>
          </a:bodyPr>
          <a:lstStyle/>
          <a:p>
            <a:pPr indent="0" marL="0">
              <a:lnSpc>
                <a:spcPct val="108000"/>
              </a:lnSpc>
              <a:buNone/>
            </a:pPr>
            <a:r>
              <a:rPr lang="en-US" sz="1600" dirty="0">
                <a:solidFill>
                  <a:srgbClr val="AAB7C8"/>
                </a:solidFill>
                <a:latin typeface="DejaVu Sans" pitchFamily="34" charset="0"/>
                <a:ea typeface="DejaVu Sans" pitchFamily="34" charset="-122"/>
                <a:cs typeface="DejaVu Sans" pitchFamily="34" charset="-120"/>
              </a:rPr>
              <a:t>No Device session required for the public verifier</a:t>
            </a:r>
            <a:endParaRPr lang="en-US" sz="1600" dirty="0"/>
          </a:p>
        </p:txBody>
      </p:sp>
      <p:sp>
        <p:nvSpPr>
          <p:cNvPr id="9" name="Text 7"/>
          <p:cNvSpPr/>
          <p:nvPr/>
        </p:nvSpPr>
        <p:spPr>
          <a:xfrm>
            <a:off x="800100" y="5111750"/>
            <a:ext cx="7302500" cy="226378"/>
          </a:xfrm>
          <a:prstGeom prst="rect">
            <a:avLst/>
          </a:prstGeom>
          <a:noFill/>
          <a:ln/>
        </p:spPr>
        <p:txBody>
          <a:bodyPr wrap="square" lIns="0" tIns="0" rIns="0" bIns="0" rtlCol="0" anchor="t">
            <a:spAutoFit/>
          </a:bodyPr>
          <a:lstStyle/>
          <a:p>
            <a:pPr indent="0" marL="0">
              <a:lnSpc>
                <a:spcPct val="108000"/>
              </a:lnSpc>
              <a:buNone/>
            </a:pPr>
            <a:r>
              <a:rPr lang="en-US" sz="1150" dirty="0">
                <a:solidFill>
                  <a:srgbClr val="F6821F"/>
                </a:solidFill>
                <a:latin typeface="DejaVu Sans" pitchFamily="34" charset="0"/>
                <a:ea typeface="DejaVu Sans" pitchFamily="34" charset="-122"/>
                <a:cs typeface="DejaVu Sans" pitchFamily="34" charset="-120"/>
              </a:rPr>
              <a:t>Shot placeholder. No recorded action or result is shown.</a:t>
            </a:r>
            <a:endParaRPr lang="en-US" sz="1150" dirty="0"/>
          </a:p>
        </p:txBody>
      </p:sp>
      <p:sp>
        <p:nvSpPr>
          <p:cNvPr id="10" name="Text 8"/>
          <p:cNvSpPr/>
          <p:nvPr/>
        </p:nvSpPr>
        <p:spPr>
          <a:xfrm>
            <a:off x="9207500" y="167640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38D6E8"/>
                </a:solidFill>
                <a:latin typeface="DejaVu Sans" pitchFamily="34" charset="0"/>
                <a:ea typeface="DejaVu Sans" pitchFamily="34" charset="-122"/>
                <a:cs typeface="DejaVu Sans" pitchFamily="34" charset="-120"/>
              </a:rPr>
              <a:t>Look up</a:t>
            </a:r>
            <a:endParaRPr lang="en-US" sz="1600" dirty="0"/>
          </a:p>
        </p:txBody>
      </p:sp>
      <p:sp>
        <p:nvSpPr>
          <p:cNvPr id="11" name="Text 9"/>
          <p:cNvSpPr/>
          <p:nvPr/>
        </p:nvSpPr>
        <p:spPr>
          <a:xfrm>
            <a:off x="9207500" y="2019300"/>
            <a:ext cx="2527300" cy="524828"/>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The same confirmed</a:t>
            </a:r>
            <a:endParaRPr lang="en-US" sz="1450" dirty="0"/>
          </a:p>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transaction</a:t>
            </a:r>
            <a:endParaRPr lang="en-US" sz="1450" dirty="0"/>
          </a:p>
        </p:txBody>
      </p:sp>
      <p:sp>
        <p:nvSpPr>
          <p:cNvPr id="12" name="Text 10"/>
          <p:cNvSpPr/>
          <p:nvPr/>
        </p:nvSpPr>
        <p:spPr>
          <a:xfrm>
            <a:off x="9207500" y="291465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A66CFF"/>
                </a:solidFill>
                <a:latin typeface="DejaVu Sans" pitchFamily="34" charset="0"/>
                <a:ea typeface="DejaVu Sans" pitchFamily="34" charset="-122"/>
                <a:cs typeface="DejaVu Sans" pitchFamily="34" charset="-120"/>
              </a:rPr>
              <a:t>Inspect</a:t>
            </a:r>
            <a:endParaRPr lang="en-US" sz="1600" dirty="0"/>
          </a:p>
        </p:txBody>
      </p:sp>
      <p:sp>
        <p:nvSpPr>
          <p:cNvPr id="13" name="Text 11"/>
          <p:cNvSpPr/>
          <p:nvPr/>
        </p:nvSpPr>
        <p:spPr>
          <a:xfrm>
            <a:off x="9207500" y="3257550"/>
            <a:ext cx="2527300" cy="285433"/>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Day, hourly results, policy</a:t>
            </a:r>
            <a:endParaRPr lang="en-US" sz="1450" dirty="0"/>
          </a:p>
        </p:txBody>
      </p:sp>
      <p:sp>
        <p:nvSpPr>
          <p:cNvPr id="14" name="Text 12"/>
          <p:cNvSpPr/>
          <p:nvPr/>
        </p:nvSpPr>
        <p:spPr>
          <a:xfrm>
            <a:off x="9207500" y="4152900"/>
            <a:ext cx="2527300" cy="314960"/>
          </a:xfrm>
          <a:prstGeom prst="rect">
            <a:avLst/>
          </a:prstGeom>
          <a:noFill/>
          <a:ln/>
        </p:spPr>
        <p:txBody>
          <a:bodyPr wrap="square" lIns="0" tIns="0" rIns="0" bIns="0" rtlCol="0" anchor="t">
            <a:spAutoFit/>
          </a:bodyPr>
          <a:lstStyle/>
          <a:p>
            <a:pPr indent="0" marL="0">
              <a:lnSpc>
                <a:spcPct val="108000"/>
              </a:lnSpc>
              <a:buNone/>
            </a:pPr>
            <a:r>
              <a:rPr lang="en-US" sz="1600" b="1" dirty="0">
                <a:solidFill>
                  <a:srgbClr val="79D66A"/>
                </a:solidFill>
                <a:latin typeface="DejaVu Sans" pitchFamily="34" charset="0"/>
                <a:ea typeface="DejaVu Sans" pitchFamily="34" charset="-122"/>
                <a:cs typeface="DejaVu Sans" pitchFamily="34" charset="-120"/>
              </a:rPr>
              <a:t>Compare</a:t>
            </a:r>
            <a:endParaRPr lang="en-US" sz="1600" dirty="0"/>
          </a:p>
        </p:txBody>
      </p:sp>
      <p:sp>
        <p:nvSpPr>
          <p:cNvPr id="15" name="Text 13"/>
          <p:cNvSpPr/>
          <p:nvPr/>
        </p:nvSpPr>
        <p:spPr>
          <a:xfrm>
            <a:off x="9207500" y="4495800"/>
            <a:ext cx="2527300" cy="285433"/>
          </a:xfrm>
          <a:prstGeom prst="rect">
            <a:avLst/>
          </a:prstGeom>
          <a:noFill/>
          <a:ln/>
        </p:spPr>
        <p:txBody>
          <a:bodyPr wrap="square" lIns="0" tIns="0" rIns="0" bIns="0" rtlCol="0" anchor="t">
            <a:spAutoFit/>
          </a:bodyPr>
          <a:lstStyle/>
          <a:p>
            <a:pPr indent="0" marL="0">
              <a:lnSpc>
                <a:spcPct val="108000"/>
              </a:lnSpc>
              <a:buNone/>
            </a:pPr>
            <a:r>
              <a:rPr lang="en-US" sz="1450" dirty="0">
                <a:solidFill>
                  <a:srgbClr val="F5F7FB"/>
                </a:solidFill>
                <a:latin typeface="DejaVu Sans" pitchFamily="34" charset="0"/>
                <a:ea typeface="DejaVu Sans" pitchFamily="34" charset="-122"/>
                <a:cs typeface="DejaVu Sans" pitchFamily="34" charset="-120"/>
              </a:rPr>
              <a:t>Public Midnight evidence</a:t>
            </a:r>
            <a:endParaRPr lang="en-US" sz="1450" dirty="0"/>
          </a:p>
        </p:txBody>
      </p:sp>
      <p:sp>
        <p:nvSpPr>
          <p:cNvPr id="16" name="Text 14"/>
          <p:cNvSpPr/>
          <p:nvPr/>
        </p:nvSpPr>
        <p:spPr>
          <a:xfrm>
            <a:off x="457200" y="5670550"/>
            <a:ext cx="11277600" cy="216535"/>
          </a:xfrm>
          <a:prstGeom prst="rect">
            <a:avLst/>
          </a:prstGeom>
          <a:noFill/>
          <a:ln/>
        </p:spPr>
        <p:txBody>
          <a:bodyPr wrap="square" lIns="0" tIns="0" rIns="0" bIns="0" rtlCol="0" anchor="t">
            <a:spAutoFit/>
          </a:bodyPr>
          <a:lstStyle/>
          <a:p>
            <a:pPr indent="0" marL="0">
              <a:lnSpc>
                <a:spcPct val="108000"/>
              </a:lnSpc>
              <a:buNone/>
            </a:pPr>
            <a:r>
              <a:rPr lang="en-US" sz="1100" dirty="0">
                <a:solidFill>
                  <a:srgbClr val="AAB7C8"/>
                </a:solidFill>
                <a:latin typeface="DejaVu Sans" pitchFamily="34" charset="0"/>
                <a:ea typeface="DejaVu Sans" pitchFamily="34" charset="-122"/>
                <a:cs typeface="DejaVu Sans" pitchFamily="34" charset="-120"/>
              </a:rPr>
              <a:t>Controlled browser demo · synthetic measurements</a:t>
            </a:r>
            <a:endParaRPr lang="en-US" sz="1100" dirty="0"/>
          </a:p>
        </p:txBody>
      </p:sp>
      <p:sp>
        <p:nvSpPr>
          <p:cNvPr id="17" name="Shape 15"/>
          <p:cNvSpPr/>
          <p:nvPr/>
        </p:nvSpPr>
        <p:spPr>
          <a:xfrm>
            <a:off x="457200" y="6540500"/>
            <a:ext cx="11277600" cy="6350"/>
          </a:xfrm>
          <a:prstGeom prst="rect">
            <a:avLst/>
          </a:prstGeom>
          <a:solidFill>
            <a:srgbClr val="29415C"/>
          </a:solidFill>
          <a:ln w="6350">
            <a:solidFill>
              <a:srgbClr val="29415C"/>
            </a:solidFill>
            <a:prstDash val="solid"/>
          </a:ln>
        </p:spPr>
      </p:sp>
      <p:sp>
        <p:nvSpPr>
          <p:cNvPr id="18" name="Text 16"/>
          <p:cNvSpPr/>
          <p:nvPr/>
        </p:nvSpPr>
        <p:spPr>
          <a:xfrm>
            <a:off x="457200" y="6604000"/>
            <a:ext cx="92075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F6821F"/>
                </a:solidFill>
                <a:latin typeface="DejaVu Sans" pitchFamily="34" charset="0"/>
                <a:ea typeface="DejaVu Sans" pitchFamily="34" charset="-122"/>
                <a:cs typeface="DejaVu Sans" pitchFamily="34" charset="-120"/>
              </a:rPr>
              <a:t>EDIT PREVIEW · NEW GUI RECORDING PENDING</a:t>
            </a:r>
            <a:endParaRPr lang="en-US" sz="900" dirty="0"/>
          </a:p>
        </p:txBody>
      </p:sp>
      <p:sp>
        <p:nvSpPr>
          <p:cNvPr id="19" name="Text 17"/>
          <p:cNvSpPr/>
          <p:nvPr/>
        </p:nvSpPr>
        <p:spPr>
          <a:xfrm>
            <a:off x="10858500" y="6604000"/>
            <a:ext cx="8763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AAB7C8"/>
                </a:solidFill>
                <a:latin typeface="DejaVu Sans" pitchFamily="34" charset="0"/>
                <a:ea typeface="DejaVu Sans" pitchFamily="34" charset="-122"/>
                <a:cs typeface="DejaVu Sans" pitchFamily="34" charset="-120"/>
              </a:rPr>
              <a:t>09 / 11</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6111F"/>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solidFill>
            <a:srgbClr val="38D6E8"/>
          </a:solidFill>
          <a:ln w="6350">
            <a:solidFill>
              <a:srgbClr val="38D6E8"/>
            </a:solidFill>
            <a:prstDash val="solid"/>
          </a:ln>
        </p:spPr>
      </p:sp>
      <p:sp>
        <p:nvSpPr>
          <p:cNvPr id="3" name="Text 1"/>
          <p:cNvSpPr/>
          <p:nvPr/>
        </p:nvSpPr>
        <p:spPr>
          <a:xfrm>
            <a:off x="457200" y="330200"/>
            <a:ext cx="11277600" cy="236220"/>
          </a:xfrm>
          <a:prstGeom prst="rect">
            <a:avLst/>
          </a:prstGeom>
          <a:noFill/>
          <a:ln/>
        </p:spPr>
        <p:txBody>
          <a:bodyPr wrap="square" lIns="0" tIns="0" rIns="0" bIns="0" rtlCol="0" anchor="t">
            <a:spAutoFit/>
          </a:bodyPr>
          <a:lstStyle/>
          <a:p>
            <a:pPr indent="0" marL="0">
              <a:lnSpc>
                <a:spcPct val="108000"/>
              </a:lnSpc>
              <a:buNone/>
            </a:pPr>
            <a:r>
              <a:rPr lang="en-US" sz="1200" b="1" dirty="0">
                <a:solidFill>
                  <a:srgbClr val="38D6E8"/>
                </a:solidFill>
                <a:latin typeface="DejaVu Sans" pitchFamily="34" charset="0"/>
                <a:ea typeface="DejaVu Sans" pitchFamily="34" charset="-122"/>
                <a:cs typeface="DejaVu Sans" pitchFamily="34" charset="-120"/>
              </a:rPr>
              <a:t>THE EXACT CLAIM</a:t>
            </a:r>
            <a:endParaRPr lang="en-US" sz="1200" dirty="0"/>
          </a:p>
        </p:txBody>
      </p:sp>
      <p:sp>
        <p:nvSpPr>
          <p:cNvPr id="4" name="Text 2"/>
          <p:cNvSpPr/>
          <p:nvPr/>
        </p:nvSpPr>
        <p:spPr>
          <a:xfrm>
            <a:off x="457200" y="685800"/>
            <a:ext cx="11277600" cy="708660"/>
          </a:xfrm>
          <a:prstGeom prst="rect">
            <a:avLst/>
          </a:prstGeom>
          <a:noFill/>
          <a:ln/>
        </p:spPr>
        <p:txBody>
          <a:bodyPr wrap="square" lIns="0" tIns="0" rIns="0" bIns="0" rtlCol="0" anchor="t">
            <a:spAutoFit/>
          </a:bodyPr>
          <a:lstStyle/>
          <a:p>
            <a:pPr indent="0" marL="0">
              <a:lnSpc>
                <a:spcPct val="108000"/>
              </a:lnSpc>
              <a:buNone/>
            </a:pPr>
            <a:r>
              <a:rPr lang="en-US" sz="3600" b="1" dirty="0">
                <a:solidFill>
                  <a:srgbClr val="F5F7FB"/>
                </a:solidFill>
                <a:latin typeface="DejaVu Sans" pitchFamily="34" charset="0"/>
                <a:ea typeface="DejaVu Sans" pitchFamily="34" charset="-122"/>
                <a:cs typeface="DejaVu Sans" pitchFamily="34" charset="-120"/>
              </a:rPr>
              <a:t>A precise proof has a clear boundary</a:t>
            </a:r>
            <a:endParaRPr lang="en-US" sz="3600" dirty="0"/>
          </a:p>
        </p:txBody>
      </p:sp>
      <p:sp>
        <p:nvSpPr>
          <p:cNvPr id="5" name="Shape 3"/>
          <p:cNvSpPr/>
          <p:nvPr/>
        </p:nvSpPr>
        <p:spPr>
          <a:xfrm>
            <a:off x="457200" y="2451100"/>
            <a:ext cx="3606800" cy="2381250"/>
          </a:xfrm>
          <a:prstGeom prst="roundRect">
            <a:avLst>
              <a:gd name="adj" fmla="val 3733"/>
            </a:avLst>
          </a:prstGeom>
          <a:solidFill>
            <a:srgbClr val="0D1B2B"/>
          </a:solidFill>
          <a:ln w="6350">
            <a:solidFill>
              <a:srgbClr val="29415C"/>
            </a:solidFill>
            <a:prstDash val="solid"/>
          </a:ln>
        </p:spPr>
      </p:sp>
      <p:sp>
        <p:nvSpPr>
          <p:cNvPr id="6" name="Shape 4"/>
          <p:cNvSpPr/>
          <p:nvPr/>
        </p:nvSpPr>
        <p:spPr>
          <a:xfrm>
            <a:off x="647700" y="2673350"/>
            <a:ext cx="342900" cy="31750"/>
          </a:xfrm>
          <a:prstGeom prst="rect">
            <a:avLst/>
          </a:prstGeom>
          <a:solidFill>
            <a:srgbClr val="38D6E8"/>
          </a:solidFill>
          <a:ln w="6350">
            <a:solidFill>
              <a:srgbClr val="38D6E8"/>
            </a:solidFill>
            <a:prstDash val="solid"/>
          </a:ln>
        </p:spPr>
      </p:sp>
      <p:sp>
        <p:nvSpPr>
          <p:cNvPr id="7" name="Text 5"/>
          <p:cNvSpPr/>
          <p:nvPr/>
        </p:nvSpPr>
        <p:spPr>
          <a:xfrm>
            <a:off x="647700" y="2908300"/>
            <a:ext cx="3225800" cy="413385"/>
          </a:xfrm>
          <a:prstGeom prst="rect">
            <a:avLst/>
          </a:prstGeom>
          <a:noFill/>
          <a:ln/>
        </p:spPr>
        <p:txBody>
          <a:bodyPr wrap="square" lIns="0" tIns="0" rIns="0" bIns="0" rtlCol="0" anchor="t">
            <a:spAutoFit/>
          </a:bodyPr>
          <a:lstStyle/>
          <a:p>
            <a:pPr indent="0" marL="0">
              <a:lnSpc>
                <a:spcPct val="108000"/>
              </a:lnSpc>
              <a:buNone/>
            </a:pPr>
            <a:r>
              <a:rPr lang="en-US" sz="2100" b="1" dirty="0">
                <a:solidFill>
                  <a:srgbClr val="38D6E8"/>
                </a:solidFill>
                <a:latin typeface="DejaVu Sans" pitchFamily="34" charset="0"/>
                <a:ea typeface="DejaVu Sans" pitchFamily="34" charset="-122"/>
                <a:cs typeface="DejaVu Sans" pitchFamily="34" charset="-120"/>
              </a:rPr>
              <a:t>Established</a:t>
            </a:r>
            <a:endParaRPr lang="en-US" sz="2100" dirty="0"/>
          </a:p>
        </p:txBody>
      </p:sp>
      <p:sp>
        <p:nvSpPr>
          <p:cNvPr id="8" name="Text 6"/>
          <p:cNvSpPr/>
          <p:nvPr/>
        </p:nvSpPr>
        <p:spPr>
          <a:xfrm>
            <a:off x="647700" y="3429000"/>
            <a:ext cx="3225800" cy="895985"/>
          </a:xfrm>
          <a:prstGeom prst="rect">
            <a:avLst/>
          </a:prstGeom>
          <a:noFill/>
          <a:ln/>
        </p:spPr>
        <p:txBody>
          <a:bodyPr wrap="square" lIns="0" tIns="0" rIns="0" bIns="0" rtlCol="0" anchor="t">
            <a:spAutoFit/>
          </a:bodyPr>
          <a:lstStyle/>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The relation between</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committed input, policy, and</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result.</a:t>
            </a:r>
            <a:endParaRPr lang="en-US" sz="1700" dirty="0"/>
          </a:p>
        </p:txBody>
      </p:sp>
      <p:sp>
        <p:nvSpPr>
          <p:cNvPr id="9" name="Shape 7"/>
          <p:cNvSpPr/>
          <p:nvPr/>
        </p:nvSpPr>
        <p:spPr>
          <a:xfrm>
            <a:off x="4292600" y="2451100"/>
            <a:ext cx="3606800" cy="2381250"/>
          </a:xfrm>
          <a:prstGeom prst="roundRect">
            <a:avLst>
              <a:gd name="adj" fmla="val 3733"/>
            </a:avLst>
          </a:prstGeom>
          <a:solidFill>
            <a:srgbClr val="0D1B2B"/>
          </a:solidFill>
          <a:ln w="6350">
            <a:solidFill>
              <a:srgbClr val="29415C"/>
            </a:solidFill>
            <a:prstDash val="solid"/>
          </a:ln>
        </p:spPr>
      </p:sp>
      <p:sp>
        <p:nvSpPr>
          <p:cNvPr id="10" name="Shape 8"/>
          <p:cNvSpPr/>
          <p:nvPr/>
        </p:nvSpPr>
        <p:spPr>
          <a:xfrm>
            <a:off x="4483100" y="2673350"/>
            <a:ext cx="342900" cy="31750"/>
          </a:xfrm>
          <a:prstGeom prst="rect">
            <a:avLst/>
          </a:prstGeom>
          <a:solidFill>
            <a:srgbClr val="A66CFF"/>
          </a:solidFill>
          <a:ln w="6350">
            <a:solidFill>
              <a:srgbClr val="A66CFF"/>
            </a:solidFill>
            <a:prstDash val="solid"/>
          </a:ln>
        </p:spPr>
      </p:sp>
      <p:sp>
        <p:nvSpPr>
          <p:cNvPr id="11" name="Text 9"/>
          <p:cNvSpPr/>
          <p:nvPr/>
        </p:nvSpPr>
        <p:spPr>
          <a:xfrm>
            <a:off x="4483100" y="2908300"/>
            <a:ext cx="3225800" cy="413385"/>
          </a:xfrm>
          <a:prstGeom prst="rect">
            <a:avLst/>
          </a:prstGeom>
          <a:noFill/>
          <a:ln/>
        </p:spPr>
        <p:txBody>
          <a:bodyPr wrap="square" lIns="0" tIns="0" rIns="0" bIns="0" rtlCol="0" anchor="t">
            <a:spAutoFit/>
          </a:bodyPr>
          <a:lstStyle/>
          <a:p>
            <a:pPr indent="0" marL="0">
              <a:lnSpc>
                <a:spcPct val="108000"/>
              </a:lnSpc>
              <a:buNone/>
            </a:pPr>
            <a:r>
              <a:rPr lang="en-US" sz="2100" b="1" dirty="0">
                <a:solidFill>
                  <a:srgbClr val="A66CFF"/>
                </a:solidFill>
                <a:latin typeface="DejaVu Sans" pitchFamily="34" charset="0"/>
                <a:ea typeface="DejaVu Sans" pitchFamily="34" charset="-122"/>
                <a:cs typeface="DejaVu Sans" pitchFamily="34" charset="-120"/>
              </a:rPr>
              <a:t>Kept private</a:t>
            </a:r>
            <a:endParaRPr lang="en-US" sz="2100" dirty="0"/>
          </a:p>
        </p:txBody>
      </p:sp>
      <p:sp>
        <p:nvSpPr>
          <p:cNvPr id="12" name="Text 10"/>
          <p:cNvSpPr/>
          <p:nvPr/>
        </p:nvSpPr>
        <p:spPr>
          <a:xfrm>
            <a:off x="4483100" y="3429000"/>
            <a:ext cx="3225800" cy="615315"/>
          </a:xfrm>
          <a:prstGeom prst="rect">
            <a:avLst/>
          </a:prstGeom>
          <a:noFill/>
          <a:ln/>
        </p:spPr>
        <p:txBody>
          <a:bodyPr wrap="square" lIns="0" tIns="0" rIns="0" bIns="0" rtlCol="0" anchor="t">
            <a:spAutoFit/>
          </a:bodyPr>
          <a:lstStyle/>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Sensor values in the public</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verification view.</a:t>
            </a:r>
            <a:endParaRPr lang="en-US" sz="1700" dirty="0"/>
          </a:p>
        </p:txBody>
      </p:sp>
      <p:sp>
        <p:nvSpPr>
          <p:cNvPr id="13" name="Shape 11"/>
          <p:cNvSpPr/>
          <p:nvPr/>
        </p:nvSpPr>
        <p:spPr>
          <a:xfrm>
            <a:off x="8128000" y="2451100"/>
            <a:ext cx="3606800" cy="2381250"/>
          </a:xfrm>
          <a:prstGeom prst="roundRect">
            <a:avLst>
              <a:gd name="adj" fmla="val 3733"/>
            </a:avLst>
          </a:prstGeom>
          <a:solidFill>
            <a:srgbClr val="0D1B2B"/>
          </a:solidFill>
          <a:ln w="6350">
            <a:solidFill>
              <a:srgbClr val="29415C"/>
            </a:solidFill>
            <a:prstDash val="solid"/>
          </a:ln>
        </p:spPr>
      </p:sp>
      <p:sp>
        <p:nvSpPr>
          <p:cNvPr id="14" name="Shape 12"/>
          <p:cNvSpPr/>
          <p:nvPr/>
        </p:nvSpPr>
        <p:spPr>
          <a:xfrm>
            <a:off x="8318500" y="2673350"/>
            <a:ext cx="342900" cy="31750"/>
          </a:xfrm>
          <a:prstGeom prst="rect">
            <a:avLst/>
          </a:prstGeom>
          <a:solidFill>
            <a:srgbClr val="79D66A"/>
          </a:solidFill>
          <a:ln w="6350">
            <a:solidFill>
              <a:srgbClr val="79D66A"/>
            </a:solidFill>
            <a:prstDash val="solid"/>
          </a:ln>
        </p:spPr>
      </p:sp>
      <p:sp>
        <p:nvSpPr>
          <p:cNvPr id="15" name="Text 13"/>
          <p:cNvSpPr/>
          <p:nvPr/>
        </p:nvSpPr>
        <p:spPr>
          <a:xfrm>
            <a:off x="8318500" y="2908300"/>
            <a:ext cx="3225800" cy="413385"/>
          </a:xfrm>
          <a:prstGeom prst="rect">
            <a:avLst/>
          </a:prstGeom>
          <a:noFill/>
          <a:ln/>
        </p:spPr>
        <p:txBody>
          <a:bodyPr wrap="square" lIns="0" tIns="0" rIns="0" bIns="0" rtlCol="0" anchor="t">
            <a:spAutoFit/>
          </a:bodyPr>
          <a:lstStyle/>
          <a:p>
            <a:pPr indent="0" marL="0">
              <a:lnSpc>
                <a:spcPct val="108000"/>
              </a:lnSpc>
              <a:buNone/>
            </a:pPr>
            <a:r>
              <a:rPr lang="en-US" sz="2100" b="1" dirty="0">
                <a:solidFill>
                  <a:srgbClr val="79D66A"/>
                </a:solidFill>
                <a:latin typeface="DejaVu Sans" pitchFamily="34" charset="0"/>
                <a:ea typeface="DejaVu Sans" pitchFamily="34" charset="-122"/>
                <a:cs typeface="DejaVu Sans" pitchFamily="34" charset="-120"/>
              </a:rPr>
              <a:t>Still trusted</a:t>
            </a:r>
            <a:endParaRPr lang="en-US" sz="2100" dirty="0"/>
          </a:p>
        </p:txBody>
      </p:sp>
      <p:sp>
        <p:nvSpPr>
          <p:cNvPr id="16" name="Text 14"/>
          <p:cNvSpPr/>
          <p:nvPr/>
        </p:nvSpPr>
        <p:spPr>
          <a:xfrm>
            <a:off x="8318500" y="3429000"/>
            <a:ext cx="3225800" cy="1176655"/>
          </a:xfrm>
          <a:prstGeom prst="rect">
            <a:avLst/>
          </a:prstGeom>
          <a:noFill/>
          <a:ln/>
        </p:spPr>
        <p:txBody>
          <a:bodyPr wrap="square" lIns="0" tIns="0" rIns="0" bIns="0" rtlCol="0" anchor="t">
            <a:spAutoFit/>
          </a:bodyPr>
          <a:lstStyle/>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Physical accuracy, complete</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sampling, source</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aggregation, and the</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backend.</a:t>
            </a:r>
            <a:endParaRPr lang="en-US" sz="1700" dirty="0"/>
          </a:p>
        </p:txBody>
      </p:sp>
      <p:sp>
        <p:nvSpPr>
          <p:cNvPr id="17" name="Text 15"/>
          <p:cNvSpPr/>
          <p:nvPr/>
        </p:nvSpPr>
        <p:spPr>
          <a:xfrm>
            <a:off x="457200" y="5156200"/>
            <a:ext cx="11277600" cy="314960"/>
          </a:xfrm>
          <a:prstGeom prst="rect">
            <a:avLst/>
          </a:prstGeom>
          <a:noFill/>
          <a:ln/>
        </p:spPr>
        <p:txBody>
          <a:bodyPr wrap="square" lIns="0" tIns="0" rIns="0" bIns="0" rtlCol="0" anchor="t">
            <a:spAutoFit/>
          </a:bodyPr>
          <a:lstStyle/>
          <a:p>
            <a:pPr indent="0" marL="0">
              <a:lnSpc>
                <a:spcPct val="108000"/>
              </a:lnSpc>
              <a:buNone/>
            </a:pPr>
            <a:r>
              <a:rPr lang="en-US" sz="1600" dirty="0">
                <a:solidFill>
                  <a:srgbClr val="AAB7C8"/>
                </a:solidFill>
                <a:latin typeface="DejaVu Sans" pitchFamily="34" charset="0"/>
                <a:ea typeface="DejaVu Sans" pitchFamily="34" charset="-122"/>
                <a:cs typeface="DejaVu Sans" pitchFamily="34" charset="-120"/>
              </a:rPr>
              <a:t>Cryptographic evidence supports a claim with a defined scope</a:t>
            </a:r>
            <a:endParaRPr lang="en-US" sz="1600" dirty="0"/>
          </a:p>
        </p:txBody>
      </p:sp>
      <p:sp>
        <p:nvSpPr>
          <p:cNvPr id="18" name="Shape 16"/>
          <p:cNvSpPr/>
          <p:nvPr/>
        </p:nvSpPr>
        <p:spPr>
          <a:xfrm>
            <a:off x="457200" y="6540500"/>
            <a:ext cx="11277600" cy="6350"/>
          </a:xfrm>
          <a:prstGeom prst="rect">
            <a:avLst/>
          </a:prstGeom>
          <a:solidFill>
            <a:srgbClr val="29415C"/>
          </a:solidFill>
          <a:ln w="6350">
            <a:solidFill>
              <a:srgbClr val="29415C"/>
            </a:solidFill>
            <a:prstDash val="solid"/>
          </a:ln>
        </p:spPr>
      </p:sp>
      <p:sp>
        <p:nvSpPr>
          <p:cNvPr id="19" name="Text 17"/>
          <p:cNvSpPr/>
          <p:nvPr/>
        </p:nvSpPr>
        <p:spPr>
          <a:xfrm>
            <a:off x="457200" y="6604000"/>
            <a:ext cx="92075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F6821F"/>
                </a:solidFill>
                <a:latin typeface="DejaVu Sans" pitchFamily="34" charset="0"/>
                <a:ea typeface="DejaVu Sans" pitchFamily="34" charset="-122"/>
                <a:cs typeface="DejaVu Sans" pitchFamily="34" charset="-120"/>
              </a:rPr>
              <a:t>EDIT PREVIEW · NEW GUI RECORDING PENDING</a:t>
            </a:r>
            <a:endParaRPr lang="en-US" sz="900" dirty="0"/>
          </a:p>
        </p:txBody>
      </p:sp>
      <p:sp>
        <p:nvSpPr>
          <p:cNvPr id="20" name="Text 18"/>
          <p:cNvSpPr/>
          <p:nvPr/>
        </p:nvSpPr>
        <p:spPr>
          <a:xfrm>
            <a:off x="10858500" y="6604000"/>
            <a:ext cx="8763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AAB7C8"/>
                </a:solidFill>
                <a:latin typeface="DejaVu Sans" pitchFamily="34" charset="0"/>
                <a:ea typeface="DejaVu Sans" pitchFamily="34" charset="-122"/>
                <a:cs typeface="DejaVu Sans" pitchFamily="34" charset="-120"/>
              </a:rPr>
              <a:t>10 / 11</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6111F"/>
        </a:solidFill>
      </p:bgPr>
    </p:bg>
    <p:spTree>
      <p:nvGrpSpPr>
        <p:cNvPr id="1" name=""/>
        <p:cNvGrpSpPr/>
        <p:nvPr/>
      </p:nvGrpSpPr>
      <p:grpSpPr>
        <a:xfrm>
          <a:off x="0" y="0"/>
          <a:ext cx="0" cy="0"/>
          <a:chOff x="0" y="0"/>
          <a:chExt cx="0" cy="0"/>
        </a:xfrm>
      </p:grpSpPr>
      <p:sp>
        <p:nvSpPr>
          <p:cNvPr id="2" name="Shape 0"/>
          <p:cNvSpPr/>
          <p:nvPr/>
        </p:nvSpPr>
        <p:spPr>
          <a:xfrm>
            <a:off x="0" y="0"/>
            <a:ext cx="12192000" cy="38100"/>
          </a:xfrm>
          <a:prstGeom prst="rect">
            <a:avLst/>
          </a:prstGeom>
          <a:solidFill>
            <a:srgbClr val="38D6E8"/>
          </a:solidFill>
          <a:ln w="6350">
            <a:solidFill>
              <a:srgbClr val="38D6E8"/>
            </a:solidFill>
            <a:prstDash val="solid"/>
          </a:ln>
        </p:spPr>
      </p:sp>
      <p:sp>
        <p:nvSpPr>
          <p:cNvPr id="3" name="Text 1"/>
          <p:cNvSpPr/>
          <p:nvPr/>
        </p:nvSpPr>
        <p:spPr>
          <a:xfrm>
            <a:off x="457200" y="330200"/>
            <a:ext cx="11277600" cy="236220"/>
          </a:xfrm>
          <a:prstGeom prst="rect">
            <a:avLst/>
          </a:prstGeom>
          <a:noFill/>
          <a:ln/>
        </p:spPr>
        <p:txBody>
          <a:bodyPr wrap="square" lIns="0" tIns="0" rIns="0" bIns="0" rtlCol="0" anchor="t">
            <a:spAutoFit/>
          </a:bodyPr>
          <a:lstStyle/>
          <a:p>
            <a:pPr indent="0" marL="0">
              <a:lnSpc>
                <a:spcPct val="108000"/>
              </a:lnSpc>
              <a:buNone/>
            </a:pPr>
            <a:r>
              <a:rPr lang="en-US" sz="1200" b="1" dirty="0">
                <a:solidFill>
                  <a:srgbClr val="38D6E8"/>
                </a:solidFill>
                <a:latin typeface="DejaVu Sans" pitchFamily="34" charset="0"/>
                <a:ea typeface="DejaVu Sans" pitchFamily="34" charset="-122"/>
                <a:cs typeface="DejaVu Sans" pitchFamily="34" charset="-120"/>
              </a:rPr>
              <a:t>THE NEXT MILESTONE</a:t>
            </a:r>
            <a:endParaRPr lang="en-US" sz="1200" dirty="0"/>
          </a:p>
        </p:txBody>
      </p:sp>
      <p:sp>
        <p:nvSpPr>
          <p:cNvPr id="4" name="Text 2"/>
          <p:cNvSpPr/>
          <p:nvPr/>
        </p:nvSpPr>
        <p:spPr>
          <a:xfrm>
            <a:off x="457200" y="685800"/>
            <a:ext cx="11277600" cy="1303020"/>
          </a:xfrm>
          <a:prstGeom prst="rect">
            <a:avLst/>
          </a:prstGeom>
          <a:noFill/>
          <a:ln/>
        </p:spPr>
        <p:txBody>
          <a:bodyPr wrap="square" lIns="0" tIns="0" rIns="0" bIns="0" rtlCol="0" anchor="t">
            <a:spAutoFit/>
          </a:bodyPr>
          <a:lstStyle/>
          <a:p>
            <a:pPr indent="0" marL="0">
              <a:lnSpc>
                <a:spcPct val="108000"/>
              </a:lnSpc>
              <a:buNone/>
            </a:pPr>
            <a:r>
              <a:rPr lang="en-US" sz="3600" b="1" dirty="0">
                <a:solidFill>
                  <a:srgbClr val="F5F7FB"/>
                </a:solidFill>
                <a:latin typeface="DejaVu Sans" pitchFamily="34" charset="0"/>
                <a:ea typeface="DejaVu Sans" pitchFamily="34" charset="-122"/>
                <a:cs typeface="DejaVu Sans" pitchFamily="34" charset="-120"/>
              </a:rPr>
              <a:t>Turn a working proof flow</a:t>
            </a:r>
            <a:endParaRPr lang="en-US" sz="3600" dirty="0"/>
          </a:p>
          <a:p>
            <a:pPr indent="0" marL="0">
              <a:lnSpc>
                <a:spcPct val="108000"/>
              </a:lnSpc>
              <a:buNone/>
            </a:pPr>
            <a:r>
              <a:rPr lang="en-US" sz="3600" b="1" dirty="0">
                <a:solidFill>
                  <a:srgbClr val="F5F7FB"/>
                </a:solidFill>
                <a:latin typeface="DejaVu Sans" pitchFamily="34" charset="0"/>
                <a:ea typeface="DejaVu Sans" pitchFamily="34" charset="-122"/>
                <a:cs typeface="DejaVu Sans" pitchFamily="34" charset="-120"/>
              </a:rPr>
              <a:t>into a measured partner pilot</a:t>
            </a:r>
            <a:endParaRPr lang="en-US" sz="3600" dirty="0"/>
          </a:p>
        </p:txBody>
      </p:sp>
      <p:sp>
        <p:nvSpPr>
          <p:cNvPr id="5" name="Shape 3"/>
          <p:cNvSpPr/>
          <p:nvPr/>
        </p:nvSpPr>
        <p:spPr>
          <a:xfrm>
            <a:off x="457200" y="2451100"/>
            <a:ext cx="3606800" cy="2381250"/>
          </a:xfrm>
          <a:prstGeom prst="roundRect">
            <a:avLst>
              <a:gd name="adj" fmla="val 3733"/>
            </a:avLst>
          </a:prstGeom>
          <a:solidFill>
            <a:srgbClr val="0D1B2B"/>
          </a:solidFill>
          <a:ln w="6350">
            <a:solidFill>
              <a:srgbClr val="29415C"/>
            </a:solidFill>
            <a:prstDash val="solid"/>
          </a:ln>
        </p:spPr>
      </p:sp>
      <p:sp>
        <p:nvSpPr>
          <p:cNvPr id="6" name="Shape 4"/>
          <p:cNvSpPr/>
          <p:nvPr/>
        </p:nvSpPr>
        <p:spPr>
          <a:xfrm>
            <a:off x="647700" y="2673350"/>
            <a:ext cx="342900" cy="31750"/>
          </a:xfrm>
          <a:prstGeom prst="rect">
            <a:avLst/>
          </a:prstGeom>
          <a:solidFill>
            <a:srgbClr val="38D6E8"/>
          </a:solidFill>
          <a:ln w="6350">
            <a:solidFill>
              <a:srgbClr val="38D6E8"/>
            </a:solidFill>
            <a:prstDash val="solid"/>
          </a:ln>
        </p:spPr>
      </p:sp>
      <p:sp>
        <p:nvSpPr>
          <p:cNvPr id="7" name="Text 5"/>
          <p:cNvSpPr/>
          <p:nvPr/>
        </p:nvSpPr>
        <p:spPr>
          <a:xfrm>
            <a:off x="647700" y="2908300"/>
            <a:ext cx="3225800" cy="413385"/>
          </a:xfrm>
          <a:prstGeom prst="rect">
            <a:avLst/>
          </a:prstGeom>
          <a:noFill/>
          <a:ln/>
        </p:spPr>
        <p:txBody>
          <a:bodyPr wrap="square" lIns="0" tIns="0" rIns="0" bIns="0" rtlCol="0" anchor="t">
            <a:spAutoFit/>
          </a:bodyPr>
          <a:lstStyle/>
          <a:p>
            <a:pPr indent="0" marL="0">
              <a:lnSpc>
                <a:spcPct val="108000"/>
              </a:lnSpc>
              <a:buNone/>
            </a:pPr>
            <a:r>
              <a:rPr lang="en-US" sz="2100" b="1" dirty="0">
                <a:solidFill>
                  <a:srgbClr val="38D6E8"/>
                </a:solidFill>
                <a:latin typeface="DejaVu Sans" pitchFamily="34" charset="0"/>
                <a:ea typeface="DejaVu Sans" pitchFamily="34" charset="-122"/>
                <a:cs typeface="DejaVu Sans" pitchFamily="34" charset="-120"/>
              </a:rPr>
              <a:t>Demonstrated</a:t>
            </a:r>
            <a:endParaRPr lang="en-US" sz="2100" dirty="0"/>
          </a:p>
        </p:txBody>
      </p:sp>
      <p:sp>
        <p:nvSpPr>
          <p:cNvPr id="8" name="Text 6"/>
          <p:cNvSpPr/>
          <p:nvPr/>
        </p:nvSpPr>
        <p:spPr>
          <a:xfrm>
            <a:off x="647700" y="3429000"/>
            <a:ext cx="3225800" cy="615315"/>
          </a:xfrm>
          <a:prstGeom prst="rect">
            <a:avLst/>
          </a:prstGeom>
          <a:noFill/>
          <a:ln/>
        </p:spPr>
        <p:txBody>
          <a:bodyPr wrap="square" lIns="0" tIns="0" rIns="0" bIns="0" rtlCol="0" anchor="t">
            <a:spAutoFit/>
          </a:bodyPr>
          <a:lstStyle/>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Core proof flow on Midnight</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Preprod.</a:t>
            </a:r>
            <a:endParaRPr lang="en-US" sz="1700" dirty="0"/>
          </a:p>
        </p:txBody>
      </p:sp>
      <p:sp>
        <p:nvSpPr>
          <p:cNvPr id="9" name="Shape 7"/>
          <p:cNvSpPr/>
          <p:nvPr/>
        </p:nvSpPr>
        <p:spPr>
          <a:xfrm>
            <a:off x="4292600" y="2451100"/>
            <a:ext cx="3606800" cy="2381250"/>
          </a:xfrm>
          <a:prstGeom prst="roundRect">
            <a:avLst>
              <a:gd name="adj" fmla="val 3733"/>
            </a:avLst>
          </a:prstGeom>
          <a:solidFill>
            <a:srgbClr val="0D1B2B"/>
          </a:solidFill>
          <a:ln w="6350">
            <a:solidFill>
              <a:srgbClr val="29415C"/>
            </a:solidFill>
            <a:prstDash val="solid"/>
          </a:ln>
        </p:spPr>
      </p:sp>
      <p:sp>
        <p:nvSpPr>
          <p:cNvPr id="10" name="Shape 8"/>
          <p:cNvSpPr/>
          <p:nvPr/>
        </p:nvSpPr>
        <p:spPr>
          <a:xfrm>
            <a:off x="4483100" y="2673350"/>
            <a:ext cx="342900" cy="31750"/>
          </a:xfrm>
          <a:prstGeom prst="rect">
            <a:avLst/>
          </a:prstGeom>
          <a:solidFill>
            <a:srgbClr val="A66CFF"/>
          </a:solidFill>
          <a:ln w="6350">
            <a:solidFill>
              <a:srgbClr val="A66CFF"/>
            </a:solidFill>
            <a:prstDash val="solid"/>
          </a:ln>
        </p:spPr>
      </p:sp>
      <p:sp>
        <p:nvSpPr>
          <p:cNvPr id="11" name="Text 9"/>
          <p:cNvSpPr/>
          <p:nvPr/>
        </p:nvSpPr>
        <p:spPr>
          <a:xfrm>
            <a:off x="4483100" y="2908300"/>
            <a:ext cx="3225800" cy="413385"/>
          </a:xfrm>
          <a:prstGeom prst="rect">
            <a:avLst/>
          </a:prstGeom>
          <a:noFill/>
          <a:ln/>
        </p:spPr>
        <p:txBody>
          <a:bodyPr wrap="square" lIns="0" tIns="0" rIns="0" bIns="0" rtlCol="0" anchor="t">
            <a:spAutoFit/>
          </a:bodyPr>
          <a:lstStyle/>
          <a:p>
            <a:pPr indent="0" marL="0">
              <a:lnSpc>
                <a:spcPct val="108000"/>
              </a:lnSpc>
              <a:buNone/>
            </a:pPr>
            <a:r>
              <a:rPr lang="en-US" sz="2100" b="1" dirty="0">
                <a:solidFill>
                  <a:srgbClr val="A66CFF"/>
                </a:solidFill>
                <a:latin typeface="DejaVu Sans" pitchFamily="34" charset="0"/>
                <a:ea typeface="DejaVu Sans" pitchFamily="34" charset="-122"/>
                <a:cs typeface="DejaVu Sans" pitchFamily="34" charset="-120"/>
              </a:rPr>
              <a:t>Implemented</a:t>
            </a:r>
            <a:endParaRPr lang="en-US" sz="2100" dirty="0"/>
          </a:p>
        </p:txBody>
      </p:sp>
      <p:sp>
        <p:nvSpPr>
          <p:cNvPr id="12" name="Text 10"/>
          <p:cNvSpPr/>
          <p:nvPr/>
        </p:nvSpPr>
        <p:spPr>
          <a:xfrm>
            <a:off x="4483100" y="3429000"/>
            <a:ext cx="3225800" cy="895985"/>
          </a:xfrm>
          <a:prstGeom prst="rect">
            <a:avLst/>
          </a:prstGeom>
          <a:noFill/>
          <a:ln/>
        </p:spPr>
        <p:txBody>
          <a:bodyPr wrap="square" lIns="0" tIns="0" rIns="0" bIns="0" rtlCol="0" anchor="t">
            <a:spAutoFit/>
          </a:bodyPr>
          <a:lstStyle/>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Field collection and</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scheduled Cloudflare</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processing.</a:t>
            </a:r>
            <a:endParaRPr lang="en-US" sz="1700" dirty="0"/>
          </a:p>
        </p:txBody>
      </p:sp>
      <p:sp>
        <p:nvSpPr>
          <p:cNvPr id="13" name="Shape 11"/>
          <p:cNvSpPr/>
          <p:nvPr/>
        </p:nvSpPr>
        <p:spPr>
          <a:xfrm>
            <a:off x="8128000" y="2451100"/>
            <a:ext cx="3606800" cy="2381250"/>
          </a:xfrm>
          <a:prstGeom prst="roundRect">
            <a:avLst>
              <a:gd name="adj" fmla="val 3733"/>
            </a:avLst>
          </a:prstGeom>
          <a:solidFill>
            <a:srgbClr val="0D1B2B"/>
          </a:solidFill>
          <a:ln w="6350">
            <a:solidFill>
              <a:srgbClr val="29415C"/>
            </a:solidFill>
            <a:prstDash val="solid"/>
          </a:ln>
        </p:spPr>
      </p:sp>
      <p:sp>
        <p:nvSpPr>
          <p:cNvPr id="14" name="Shape 12"/>
          <p:cNvSpPr/>
          <p:nvPr/>
        </p:nvSpPr>
        <p:spPr>
          <a:xfrm>
            <a:off x="8318500" y="2673350"/>
            <a:ext cx="342900" cy="31750"/>
          </a:xfrm>
          <a:prstGeom prst="rect">
            <a:avLst/>
          </a:prstGeom>
          <a:solidFill>
            <a:srgbClr val="79D66A"/>
          </a:solidFill>
          <a:ln w="6350">
            <a:solidFill>
              <a:srgbClr val="79D66A"/>
            </a:solidFill>
            <a:prstDash val="solid"/>
          </a:ln>
        </p:spPr>
      </p:sp>
      <p:sp>
        <p:nvSpPr>
          <p:cNvPr id="15" name="Text 13"/>
          <p:cNvSpPr/>
          <p:nvPr/>
        </p:nvSpPr>
        <p:spPr>
          <a:xfrm>
            <a:off x="8318500" y="2908300"/>
            <a:ext cx="3225800" cy="413385"/>
          </a:xfrm>
          <a:prstGeom prst="rect">
            <a:avLst/>
          </a:prstGeom>
          <a:noFill/>
          <a:ln/>
        </p:spPr>
        <p:txBody>
          <a:bodyPr wrap="square" lIns="0" tIns="0" rIns="0" bIns="0" rtlCol="0" anchor="t">
            <a:spAutoFit/>
          </a:bodyPr>
          <a:lstStyle/>
          <a:p>
            <a:pPr indent="0" marL="0">
              <a:lnSpc>
                <a:spcPct val="108000"/>
              </a:lnSpc>
              <a:buNone/>
            </a:pPr>
            <a:r>
              <a:rPr lang="en-US" sz="2100" b="1" dirty="0">
                <a:solidFill>
                  <a:srgbClr val="79D66A"/>
                </a:solidFill>
                <a:latin typeface="DejaVu Sans" pitchFamily="34" charset="0"/>
                <a:ea typeface="DejaVu Sans" pitchFamily="34" charset="-122"/>
                <a:cs typeface="DejaVu Sans" pitchFamily="34" charset="-120"/>
              </a:rPr>
              <a:t>Next</a:t>
            </a:r>
            <a:endParaRPr lang="en-US" sz="2100" dirty="0"/>
          </a:p>
        </p:txBody>
      </p:sp>
      <p:sp>
        <p:nvSpPr>
          <p:cNvPr id="16" name="Text 14"/>
          <p:cNvSpPr/>
          <p:nvPr/>
        </p:nvSpPr>
        <p:spPr>
          <a:xfrm>
            <a:off x="8318500" y="3429000"/>
            <a:ext cx="3225800" cy="895985"/>
          </a:xfrm>
          <a:prstGeom prst="rect">
            <a:avLst/>
          </a:prstGeom>
          <a:noFill/>
          <a:ln/>
        </p:spPr>
        <p:txBody>
          <a:bodyPr wrap="square" lIns="0" tIns="0" rIns="0" bIns="0" rtlCol="0" anchor="t">
            <a:spAutoFit/>
          </a:bodyPr>
          <a:lstStyle/>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Validate reliability, review</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effort, and willingness to</a:t>
            </a:r>
            <a:endParaRPr lang="en-US" sz="1700" dirty="0"/>
          </a:p>
          <a:p>
            <a:pPr indent="0" marL="0">
              <a:lnSpc>
                <a:spcPct val="108000"/>
              </a:lnSpc>
              <a:buNone/>
            </a:pPr>
            <a:r>
              <a:rPr lang="en-US" sz="1700" dirty="0">
                <a:solidFill>
                  <a:srgbClr val="F5F7FB"/>
                </a:solidFill>
                <a:latin typeface="DejaVu Sans" pitchFamily="34" charset="0"/>
                <a:ea typeface="DejaVu Sans" pitchFamily="34" charset="-122"/>
                <a:cs typeface="DejaVu Sans" pitchFamily="34" charset="-120"/>
              </a:rPr>
              <a:t>pay.</a:t>
            </a:r>
            <a:endParaRPr lang="en-US" sz="1700" dirty="0"/>
          </a:p>
        </p:txBody>
      </p:sp>
      <p:sp>
        <p:nvSpPr>
          <p:cNvPr id="17" name="Text 15"/>
          <p:cNvSpPr/>
          <p:nvPr/>
        </p:nvSpPr>
        <p:spPr>
          <a:xfrm>
            <a:off x="457200" y="5156200"/>
            <a:ext cx="11277600" cy="314960"/>
          </a:xfrm>
          <a:prstGeom prst="rect">
            <a:avLst/>
          </a:prstGeom>
          <a:noFill/>
          <a:ln/>
        </p:spPr>
        <p:txBody>
          <a:bodyPr wrap="square" lIns="0" tIns="0" rIns="0" bIns="0" rtlCol="0" anchor="t">
            <a:spAutoFit/>
          </a:bodyPr>
          <a:lstStyle/>
          <a:p>
            <a:pPr indent="0" marL="0">
              <a:lnSpc>
                <a:spcPct val="108000"/>
              </a:lnSpc>
              <a:buNone/>
            </a:pPr>
            <a:r>
              <a:rPr lang="en-US" sz="1600" dirty="0">
                <a:solidFill>
                  <a:srgbClr val="AAB7C8"/>
                </a:solidFill>
                <a:latin typeface="DejaVu Sans" pitchFamily="34" charset="0"/>
                <a:ea typeface="DejaVu Sans" pitchFamily="34" charset="-122"/>
                <a:cs typeface="DejaVu Sans" pitchFamily="34" charset="-120"/>
              </a:rPr>
              <a:t>Seeking a measurement-reporting workflow and a pilot partner</a:t>
            </a:r>
            <a:endParaRPr lang="en-US" sz="1600" dirty="0"/>
          </a:p>
        </p:txBody>
      </p:sp>
      <p:sp>
        <p:nvSpPr>
          <p:cNvPr id="18" name="Shape 16"/>
          <p:cNvSpPr/>
          <p:nvPr/>
        </p:nvSpPr>
        <p:spPr>
          <a:xfrm>
            <a:off x="457200" y="6540500"/>
            <a:ext cx="11277600" cy="6350"/>
          </a:xfrm>
          <a:prstGeom prst="rect">
            <a:avLst/>
          </a:prstGeom>
          <a:solidFill>
            <a:srgbClr val="29415C"/>
          </a:solidFill>
          <a:ln w="6350">
            <a:solidFill>
              <a:srgbClr val="29415C"/>
            </a:solidFill>
            <a:prstDash val="solid"/>
          </a:ln>
        </p:spPr>
      </p:sp>
      <p:sp>
        <p:nvSpPr>
          <p:cNvPr id="19" name="Text 17"/>
          <p:cNvSpPr/>
          <p:nvPr/>
        </p:nvSpPr>
        <p:spPr>
          <a:xfrm>
            <a:off x="457200" y="6604000"/>
            <a:ext cx="92075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F6821F"/>
                </a:solidFill>
                <a:latin typeface="DejaVu Sans" pitchFamily="34" charset="0"/>
                <a:ea typeface="DejaVu Sans" pitchFamily="34" charset="-122"/>
                <a:cs typeface="DejaVu Sans" pitchFamily="34" charset="-120"/>
              </a:rPr>
              <a:t>EDIT PREVIEW · NEW GUI RECORDING PENDING</a:t>
            </a:r>
            <a:endParaRPr lang="en-US" sz="900" dirty="0"/>
          </a:p>
        </p:txBody>
      </p:sp>
      <p:sp>
        <p:nvSpPr>
          <p:cNvPr id="20" name="Text 18"/>
          <p:cNvSpPr/>
          <p:nvPr/>
        </p:nvSpPr>
        <p:spPr>
          <a:xfrm>
            <a:off x="10858500" y="6604000"/>
            <a:ext cx="876300" cy="177165"/>
          </a:xfrm>
          <a:prstGeom prst="rect">
            <a:avLst/>
          </a:prstGeom>
          <a:noFill/>
          <a:ln/>
        </p:spPr>
        <p:txBody>
          <a:bodyPr wrap="square" lIns="0" tIns="0" rIns="0" bIns="0" rtlCol="0" anchor="t">
            <a:spAutoFit/>
          </a:bodyPr>
          <a:lstStyle/>
          <a:p>
            <a:pPr indent="0" marL="0">
              <a:lnSpc>
                <a:spcPct val="108000"/>
              </a:lnSpc>
              <a:buNone/>
            </a:pPr>
            <a:r>
              <a:rPr lang="en-US" sz="900" dirty="0">
                <a:solidFill>
                  <a:srgbClr val="AAB7C8"/>
                </a:solidFill>
                <a:latin typeface="DejaVu Sans" pitchFamily="34" charset="0"/>
                <a:ea typeface="DejaVu Sans" pitchFamily="34" charset="-122"/>
                <a:cs typeface="DejaVu Sans" pitchFamily="34" charset="-120"/>
              </a:rPr>
              <a:t>11 / 11</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jaVu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ejaVu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BACCHIRI — en — preview</dc:title>
  <dc:subject>Verifiable measurement: controlled GUI demonstration and field operation</dc:subject>
  <dc:creator>BACCHIRI contributors</dc:creator>
  <cp:lastModifiedBy>BACCHIRI contributors</cp:lastModifiedBy>
  <cp:revision>1</cp:revision>
  <dcterms:created xsi:type="dcterms:W3CDTF">2026-09-10T06:28:44Z</dcterms:created>
  <dcterms:modified xsi:type="dcterms:W3CDTF">2026-09-10T06:28:44Z</dcterms:modified>
</cp:coreProperties>
</file>